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8" name="Google Shape;73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4" name="Google Shape;76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8" name="Google Shape;7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8" name="Google Shape;9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5" name="Google Shape;107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1" name="Google Shape;115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42.png"/><Relationship Id="rId9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0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75.png"/><Relationship Id="rId5" Type="http://schemas.openxmlformats.org/officeDocument/2006/relationships/image" Target="../media/image63.png"/><Relationship Id="rId10" Type="http://schemas.openxmlformats.org/officeDocument/2006/relationships/image" Target="../media/image74.png"/><Relationship Id="rId4" Type="http://schemas.openxmlformats.org/officeDocument/2006/relationships/image" Target="../media/image70.png"/><Relationship Id="rId9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0.jp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25.png"/><Relationship Id="rId9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87.png"/><Relationship Id="rId10" Type="http://schemas.openxmlformats.org/officeDocument/2006/relationships/image" Target="../media/image88.png"/><Relationship Id="rId4" Type="http://schemas.openxmlformats.org/officeDocument/2006/relationships/image" Target="../media/image86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3.png"/><Relationship Id="rId5" Type="http://schemas.openxmlformats.org/officeDocument/2006/relationships/image" Target="../media/image89.png"/><Relationship Id="rId10" Type="http://schemas.openxmlformats.org/officeDocument/2006/relationships/image" Target="../media/image92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49.png"/><Relationship Id="rId3" Type="http://schemas.openxmlformats.org/officeDocument/2006/relationships/image" Target="../media/image72.png"/><Relationship Id="rId7" Type="http://schemas.openxmlformats.org/officeDocument/2006/relationships/image" Target="../media/image95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7.png"/><Relationship Id="rId5" Type="http://schemas.openxmlformats.org/officeDocument/2006/relationships/image" Target="../media/image31.png"/><Relationship Id="rId10" Type="http://schemas.openxmlformats.org/officeDocument/2006/relationships/image" Target="../media/image48.png"/><Relationship Id="rId4" Type="http://schemas.openxmlformats.org/officeDocument/2006/relationships/image" Target="../media/image83.png"/><Relationship Id="rId9" Type="http://schemas.openxmlformats.org/officeDocument/2006/relationships/image" Target="../media/image34.png"/><Relationship Id="rId14" Type="http://schemas.openxmlformats.org/officeDocument/2006/relationships/image" Target="../media/image9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104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102.png"/><Relationship Id="rId5" Type="http://schemas.openxmlformats.org/officeDocument/2006/relationships/image" Target="../media/image53.png"/><Relationship Id="rId10" Type="http://schemas.openxmlformats.org/officeDocument/2006/relationships/image" Target="../media/image101.png"/><Relationship Id="rId4" Type="http://schemas.openxmlformats.org/officeDocument/2006/relationships/image" Target="../media/image52.png"/><Relationship Id="rId9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803940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/>
          <p:cNvPicPr preferRelativeResize="0"/>
          <p:nvPr/>
        </p:nvPicPr>
        <p:blipFill rotWithShape="1">
          <a:blip r:embed="rId3">
            <a:alphaModFix/>
          </a:blip>
          <a:srcRect l="-27" r="-27"/>
          <a:stretch/>
        </p:blipFill>
        <p:spPr>
          <a:xfrm>
            <a:off x="5352898" y="609905"/>
            <a:ext cx="42885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preencoded.png"/>
          <p:cNvPicPr preferRelativeResize="0"/>
          <p:nvPr/>
        </p:nvPicPr>
        <p:blipFill rotWithShape="1">
          <a:blip r:embed="rId4">
            <a:alphaModFix/>
          </a:blip>
          <a:srcRect l="-27" r="-27"/>
          <a:stretch/>
        </p:blipFill>
        <p:spPr>
          <a:xfrm>
            <a:off x="5924398" y="609905"/>
            <a:ext cx="42885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5898" y="60990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2895905" y="4705502"/>
            <a:ext cx="6400800" cy="1962302"/>
          </a:xfrm>
          <a:prstGeom prst="roundRect">
            <a:avLst>
              <a:gd name="adj" fmla="val 2262"/>
            </a:avLst>
          </a:prstGeom>
          <a:solidFill>
            <a:srgbClr val="FFFFFF">
              <a:alpha val="80000"/>
            </a:srgbClr>
          </a:solidFill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395374" y="1209751"/>
            <a:ext cx="9773107" cy="134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900"/>
              <a:buFont typeface="Montserrat"/>
              <a:buNone/>
            </a:pPr>
            <a:r>
              <a:rPr lang="en-GB" sz="3900" b="1" i="0" u="none" strike="noStrike" cap="none" dirty="0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Lab 04: Games with Search Uncertainty</a:t>
            </a:r>
            <a:endParaRPr sz="3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3918204" y="3161995"/>
            <a:ext cx="4562856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Montserrat"/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Môn: Trí Tuệ Nhân Tạo Nâng Cao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729277" y="3648456"/>
            <a:ext cx="2891333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Montserrat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Giảng viên: TS. Đỗ Như Tài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628339" y="4038905"/>
            <a:ext cx="510143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Nhóm 11 – Khoa CNTT, Trường Đại học Sài Gòn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5121554" y="4981651"/>
            <a:ext cx="211043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Thành viên nhóm: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4605833" y="7172554"/>
            <a:ext cx="31245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Montserrat"/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TP.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Hồ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Chí Minh,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tháng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r>
              <a:rPr lang="en-US" sz="15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/2025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143707" y="5438851"/>
            <a:ext cx="25484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Phạm Văn Nam (3122410251)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3143707" y="5810098"/>
            <a:ext cx="2376526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Nguyễn</a:t>
            </a:r>
            <a:r>
              <a:rPr lang="en-US" sz="13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Quang </a:t>
            </a:r>
            <a:r>
              <a:rPr lang="en-US" sz="13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Tuấn</a:t>
            </a:r>
            <a:r>
              <a:rPr lang="en-US" sz="13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00" b="0" i="0" u="none" strike="noStrike" cap="none" dirty="0" err="1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Nghĩa</a:t>
            </a:r>
            <a:r>
              <a:rPr lang="en-US" sz="1300" b="0" i="0" u="none" strike="noStrike" cap="none" dirty="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 (3122410260)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6172200" y="5438851"/>
            <a:ext cx="23198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Tạ Hồng Quí (3122410348)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6172200" y="5810098"/>
            <a:ext cx="2615184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Vũ Quốc Vương (3120410629)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0" y="789584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1096244" y="428854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81305" y="6896405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19049" y="7134149"/>
            <a:ext cx="286207" cy="286207"/>
          </a:xfrm>
          <a:prstGeom prst="ellipse">
            <a:avLst/>
          </a:prstGeom>
          <a:noFill/>
          <a:ln w="127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981505" y="2076602"/>
            <a:ext cx="8229600" cy="2857500"/>
          </a:xfrm>
          <a:prstGeom prst="roundRect">
            <a:avLst>
              <a:gd name="adj" fmla="val 1280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4983480" y="638251"/>
            <a:ext cx="257220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600"/>
              <a:buFont typeface="Montserrat"/>
              <a:buNone/>
            </a:pPr>
            <a:r>
              <a:rPr lang="en-US" sz="3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MỤC LỤC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238598" y="1410005"/>
            <a:ext cx="1714500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2361895" y="2361895"/>
            <a:ext cx="24963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 Giới thiệu Adversarial Search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361895" y="2876702"/>
            <a:ext cx="20199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 Bài toán 1 – Connect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2361895" y="3390595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03 Bài toán 2 – Mean Connect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2361895" y="3905402"/>
            <a:ext cx="2457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04 Bài toán 3 – Dots and Boxes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2361895" y="4419295"/>
            <a:ext cx="2448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05 Kết luận và hướng mở rộng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81305" y="5715000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61695" y="1466698"/>
            <a:ext cx="10668305" cy="4914900"/>
          </a:xfrm>
          <a:prstGeom prst="roundRect">
            <a:avLst>
              <a:gd name="adj" fmla="val 433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761695" y="523951"/>
            <a:ext cx="5962802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3 – KHÁI NIỆM CHUNG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8623" y="1904695"/>
            <a:ext cx="20025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143000" y="2943454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143000" y="4209898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1904695" y="1781251"/>
            <a:ext cx="131033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Khái niệm: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1904695" y="4238244"/>
            <a:ext cx="1300277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Ứng dụng: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1904695" y="2180844"/>
            <a:ext cx="9263786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Adversarial Search là tìm kiếm trong môi trường có đối thủ, mỗi bên cố gắng tối đa hóa lợi ích của mình và giảm lợi ích đối phương.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705" y="3095244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1904695" y="2971800"/>
            <a:ext cx="1157630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Mục tiêu: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904695" y="3372307"/>
            <a:ext cx="569122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Xác định chiến lược tối ưu giả định rằng đối thủ cũng chơi tối ưu.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904695" y="3705149"/>
            <a:ext cx="474847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Dựa trên lý thuyết Minimax Value trong Game Theory.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1872" y="4362602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/>
        </p:nvSpPr>
        <p:spPr>
          <a:xfrm>
            <a:off x="1904695" y="4638751"/>
            <a:ext cx="51773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Cờ vua, Cờ caro, Tic-Tac-Toe, Connect 4, Dots and Boxes, v.v.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76402" y="5715000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761695" y="523951"/>
            <a:ext cx="5725058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4 – CƠ CHẾ MINIMAX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761695" y="1466698"/>
            <a:ext cx="7181698" cy="4914900"/>
          </a:xfrm>
          <a:prstGeom prst="roundRect">
            <a:avLst>
              <a:gd name="adj" fmla="val 433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6" descr="preencoded.png"/>
          <p:cNvPicPr preferRelativeResize="0"/>
          <p:nvPr/>
        </p:nvPicPr>
        <p:blipFill rotWithShape="1">
          <a:blip r:embed="rId3">
            <a:alphaModFix/>
          </a:blip>
          <a:srcRect l="-685" r="-685"/>
          <a:stretch/>
        </p:blipFill>
        <p:spPr>
          <a:xfrm>
            <a:off x="1276502" y="1904695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 txBox="1"/>
          <p:nvPr/>
        </p:nvSpPr>
        <p:spPr>
          <a:xfrm>
            <a:off x="1904695" y="1781251"/>
            <a:ext cx="1300277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Nguyên lý: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6" descr="preencoded.png"/>
          <p:cNvPicPr preferRelativeResize="0"/>
          <p:nvPr/>
        </p:nvPicPr>
        <p:blipFill rotWithShape="1">
          <a:blip r:embed="rId4">
            <a:alphaModFix/>
          </a:blip>
          <a:srcRect t="-100" b="-100"/>
          <a:stretch/>
        </p:blipFill>
        <p:spPr>
          <a:xfrm>
            <a:off x="1904695" y="2214677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 txBox="1"/>
          <p:nvPr/>
        </p:nvSpPr>
        <p:spPr>
          <a:xfrm>
            <a:off x="2115007" y="2180844"/>
            <a:ext cx="423458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Nút MAX chọn giá trị lớn nhất (lợi ích của mình).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6" descr="preencoded.png"/>
          <p:cNvPicPr preferRelativeResize="0"/>
          <p:nvPr/>
        </p:nvPicPr>
        <p:blipFill rotWithShape="1">
          <a:blip r:embed="rId5">
            <a:alphaModFix/>
          </a:blip>
          <a:srcRect t="-100" b="-100"/>
          <a:stretch/>
        </p:blipFill>
        <p:spPr>
          <a:xfrm>
            <a:off x="1904695" y="2585923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1143000" y="3057754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1904695" y="3086100"/>
            <a:ext cx="247253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Công thức tổng quát: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2115007" y="2553005"/>
            <a:ext cx="458663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Nút MIN chọn giá trị nhỏ nhất (gây bất lợi cho MAX).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6" descr="preencoded.png"/>
          <p:cNvPicPr preferRelativeResize="0"/>
          <p:nvPr/>
        </p:nvPicPr>
        <p:blipFill rotWithShape="1">
          <a:blip r:embed="rId6">
            <a:alphaModFix/>
          </a:blip>
          <a:srcRect l="-685" r="-685"/>
          <a:stretch/>
        </p:blipFill>
        <p:spPr>
          <a:xfrm>
            <a:off x="1276502" y="3209544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1143000" y="4334256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904695" y="4362602"/>
            <a:ext cx="111008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Hạn chế: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2152498" y="4762195"/>
            <a:ext cx="242498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Duyệt toàn bộ cây trò chơi.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904695" y="3467405"/>
            <a:ext cx="2829154" cy="599846"/>
          </a:xfrm>
          <a:prstGeom prst="roundRect">
            <a:avLst>
              <a:gd name="adj" fmla="val 19357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2048256" y="3648456"/>
            <a:ext cx="2701138" cy="2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0C4A6E"/>
                </a:solidFill>
                <a:latin typeface="Roboto"/>
                <a:ea typeface="Roboto"/>
                <a:cs typeface="Roboto"/>
                <a:sym typeface="Roboto"/>
              </a:rPr>
              <a:t>𝑉(𝑛) = max𝑎 min𝑏 Utility(𝑛′)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95705" y="4486046"/>
            <a:ext cx="267005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4695" y="4796028"/>
            <a:ext cx="152705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04695" y="516727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 txBox="1"/>
          <p:nvPr/>
        </p:nvSpPr>
        <p:spPr>
          <a:xfrm>
            <a:off x="2152498" y="5134356"/>
            <a:ext cx="281543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Tăng độ sâu → bùng nổ tổ hợp.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 descr="preencoded.png"/>
          <p:cNvPicPr preferRelativeResize="0"/>
          <p:nvPr/>
        </p:nvPicPr>
        <p:blipFill rotWithShape="1">
          <a:blip r:embed="rId10">
            <a:alphaModFix/>
          </a:blip>
          <a:srcRect l="85" r="85"/>
          <a:stretch/>
        </p:blipFill>
        <p:spPr>
          <a:xfrm>
            <a:off x="8223199" y="2855671"/>
            <a:ext cx="3209544" cy="2143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76402" y="5715000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0" y="0"/>
            <a:ext cx="12191695" cy="843899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61695" y="1466698"/>
            <a:ext cx="10668305" cy="6495898"/>
          </a:xfrm>
          <a:prstGeom prst="roundRect">
            <a:avLst>
              <a:gd name="adj" fmla="val 248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761695" y="523951"/>
            <a:ext cx="6839712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5 – ALPHA–BETA PRUNING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705" y="1904695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1143000" y="2648102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143000" y="41532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1904695" y="1781251"/>
            <a:ext cx="202448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Cải tiến Minimax: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904695" y="4181551"/>
            <a:ext cx="1185977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Hiệu quả: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904695" y="2180844"/>
            <a:ext cx="442478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Cắt bỏ nhánh không cần thiết trong cây tìm kiếm.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7" descr="preencoded.png"/>
          <p:cNvPicPr preferRelativeResize="0"/>
          <p:nvPr/>
        </p:nvPicPr>
        <p:blipFill rotWithShape="1">
          <a:blip r:embed="rId4">
            <a:alphaModFix/>
          </a:blip>
          <a:srcRect l="-881" r="-881"/>
          <a:stretch/>
        </p:blipFill>
        <p:spPr>
          <a:xfrm>
            <a:off x="1309421" y="2800807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1904695" y="2676449"/>
            <a:ext cx="179588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Hai giá trị biên: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1904695" y="3685946"/>
            <a:ext cx="32342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Điều kiện cắt: Khi β ≤ α → cắt nhánh.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1904695" y="3057754"/>
            <a:ext cx="36201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α (alpha): Giá trị tốt nhất MAX có thể đảm bảo.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904695" y="3362249"/>
            <a:ext cx="34957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β (beta): Giá trị tốt nhất MIN có thể đảm bảo.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705" y="4304995"/>
            <a:ext cx="267005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 descr="preencoded.png"/>
          <p:cNvPicPr preferRelativeResize="0"/>
          <p:nvPr/>
        </p:nvPicPr>
        <p:blipFill rotWithShape="1">
          <a:blip r:embed="rId6">
            <a:alphaModFix/>
          </a:blip>
          <a:srcRect t="-180" b="-179"/>
          <a:stretch/>
        </p:blipFill>
        <p:spPr>
          <a:xfrm>
            <a:off x="1904695" y="4614977"/>
            <a:ext cx="95098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/>
        </p:nvSpPr>
        <p:spPr>
          <a:xfrm>
            <a:off x="2095805" y="4581144"/>
            <a:ext cx="4215384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Giảm số nút duyệt, rút ngắn thời gian tìm kiếm.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7" descr="preencoded.png"/>
          <p:cNvPicPr preferRelativeResize="0"/>
          <p:nvPr/>
        </p:nvPicPr>
        <p:blipFill rotWithShape="1">
          <a:blip r:embed="rId6">
            <a:alphaModFix/>
          </a:blip>
          <a:srcRect t="-180" b="-179"/>
          <a:stretch/>
        </p:blipFill>
        <p:spPr>
          <a:xfrm>
            <a:off x="1904695" y="4947818"/>
            <a:ext cx="95098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2095805" y="4914900"/>
            <a:ext cx="475853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Với Move Ordering hợp lý, có thể giảm &gt;60% thời gian.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1805" y="5391302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8296351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76402" y="7295998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61695" y="1466698"/>
            <a:ext cx="10668305" cy="4914900"/>
          </a:xfrm>
          <a:prstGeom prst="roundRect">
            <a:avLst>
              <a:gd name="adj" fmla="val 433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761695" y="523951"/>
            <a:ext cx="9192463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6 – ỨNG DỤNG ADVERSARIAL SEARCH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8" descr="preencoded.png"/>
          <p:cNvPicPr preferRelativeResize="0"/>
          <p:nvPr/>
        </p:nvPicPr>
        <p:blipFill rotWithShape="1">
          <a:blip r:embed="rId3">
            <a:alphaModFix/>
          </a:blip>
          <a:srcRect l="-881" r="-881"/>
          <a:stretch/>
        </p:blipFill>
        <p:spPr>
          <a:xfrm>
            <a:off x="1309421" y="1904695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1143000" y="2686507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143000" y="361919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143000" y="4552798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1904695" y="1781251"/>
            <a:ext cx="948233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Cờ vua: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1904695" y="2180844"/>
            <a:ext cx="28913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Ước tính ~1047 trạng thái khả dĩ.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705" y="283829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1904695" y="2714854"/>
            <a:ext cx="102412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Cờ caro: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1904695" y="3648456"/>
            <a:ext cx="132953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Connect 4: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904695" y="3114446"/>
            <a:ext cx="531083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Bài toán Connect-N với luật đơn giản nhưng không gian lớn.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705" y="3771900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1904695" y="4048049"/>
            <a:ext cx="320588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Trò chơi chiến lược có thể giải được.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 descr="preencoded.png"/>
          <p:cNvPicPr preferRelativeResize="0"/>
          <p:nvPr/>
        </p:nvPicPr>
        <p:blipFill rotWithShape="1">
          <a:blip r:embed="rId6">
            <a:alphaModFix/>
          </a:blip>
          <a:srcRect l="-881" r="-881"/>
          <a:stretch/>
        </p:blipFill>
        <p:spPr>
          <a:xfrm>
            <a:off x="1309421" y="4705502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 txBox="1"/>
          <p:nvPr/>
        </p:nvSpPr>
        <p:spPr>
          <a:xfrm>
            <a:off x="1904695" y="4581144"/>
            <a:ext cx="1890979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Dots and Boxes: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1904695" y="4981651"/>
            <a:ext cx="589147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Có yếu tố chiến thuật phức tạp – minh họa tốt cho heuristic search.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76402" y="5715000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0" y="0"/>
            <a:ext cx="12191695" cy="6915607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761695" y="428854"/>
            <a:ext cx="8482889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7 – GIỚI THIỆU TRÒ CHƠI CONNECT 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9" descr="preencoded.png"/>
          <p:cNvPicPr preferRelativeResize="0"/>
          <p:nvPr/>
        </p:nvPicPr>
        <p:blipFill rotWithShape="1">
          <a:blip r:embed="rId3">
            <a:alphaModFix/>
          </a:blip>
          <a:srcRect l="4" r="3"/>
          <a:stretch/>
        </p:blipFill>
        <p:spPr>
          <a:xfrm>
            <a:off x="3238805" y="1248156"/>
            <a:ext cx="5715000" cy="381030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/>
          <p:nvPr/>
        </p:nvSpPr>
        <p:spPr>
          <a:xfrm>
            <a:off x="9334195" y="1819656"/>
            <a:ext cx="1714500" cy="895198"/>
          </a:xfrm>
          <a:prstGeom prst="roundRect">
            <a:avLst>
              <a:gd name="adj" fmla="val 10866"/>
            </a:avLst>
          </a:prstGeom>
          <a:solidFill>
            <a:srgbClr val="FFFFFF">
              <a:alpha val="89803"/>
            </a:srgbClr>
          </a:solidFill>
          <a:ln>
            <a:noFill/>
          </a:ln>
          <a:effectLst>
            <a:outerShdw blurRad="76200" dist="254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334195" y="1819656"/>
            <a:ext cx="38405" cy="8951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9" descr="preencoded.png"/>
          <p:cNvPicPr preferRelativeResize="0"/>
          <p:nvPr/>
        </p:nvPicPr>
        <p:blipFill rotWithShape="1">
          <a:blip r:embed="rId4">
            <a:alphaModFix/>
          </a:blip>
          <a:srcRect l="-33" r="-32"/>
          <a:stretch/>
        </p:blipFill>
        <p:spPr>
          <a:xfrm>
            <a:off x="9486900" y="1962302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761695" y="5248656"/>
            <a:ext cx="10668305" cy="1285646"/>
          </a:xfrm>
          <a:prstGeom prst="roundRect">
            <a:avLst>
              <a:gd name="adj" fmla="val 6322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9706356" y="1952244"/>
            <a:ext cx="11338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Chiến thắng!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9486900" y="2210105"/>
            <a:ext cx="1491386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4 quân liên tiếp theo hàng ngang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47902" y="5509260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798" y="5585155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1047902" y="5960974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1429207" y="5447995"/>
            <a:ext cx="4029761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Bàn cờ kích thước 6×7; hai người luân phiên thả đĩa (đỏ/vàng)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 descr="preencoded.png"/>
          <p:cNvPicPr preferRelativeResize="0"/>
          <p:nvPr/>
        </p:nvPicPr>
        <p:blipFill rotWithShape="1">
          <a:blip r:embed="rId6">
            <a:alphaModFix/>
          </a:blip>
          <a:srcRect l="-2512" r="-2512"/>
          <a:stretch/>
        </p:blipFill>
        <p:spPr>
          <a:xfrm>
            <a:off x="1138428" y="6036869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6191402" y="5438851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191402" y="5890565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1429207" y="6006694"/>
            <a:ext cx="30486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Đĩa rơi xuống vị trí thấp nhất trong cột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9" descr="preencoded.png"/>
          <p:cNvPicPr preferRelativeResize="0"/>
          <p:nvPr/>
        </p:nvPicPr>
        <p:blipFill rotWithShape="1">
          <a:blip r:embed="rId7">
            <a:alphaModFix/>
          </a:blip>
          <a:srcRect l="-2512" r="-2512"/>
          <a:stretch/>
        </p:blipFill>
        <p:spPr>
          <a:xfrm>
            <a:off x="6281928" y="5514746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6572707" y="5484571"/>
            <a:ext cx="422910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Thắng nếu có 4 quân liên tiếp (ngang, dọc hoặc chéo)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67298" y="5966460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 txBox="1"/>
          <p:nvPr/>
        </p:nvSpPr>
        <p:spPr>
          <a:xfrm>
            <a:off x="6572707" y="5829300"/>
            <a:ext cx="4429354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Đây là trò chơi đã được "solved" – người đi trước có chiến lược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0" y="6770218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76402" y="5770778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0"/>
            <a:ext cx="12191695" cy="1043970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761695" y="428854"/>
            <a:ext cx="7892186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8 – RANDOM AGENT (CONNECT 4)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761695" y="1285646"/>
            <a:ext cx="5219395" cy="2124151"/>
          </a:xfrm>
          <a:prstGeom prst="roundRect">
            <a:avLst>
              <a:gd name="adj" fmla="val 2316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61695" y="1285646"/>
            <a:ext cx="47549" cy="212415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/>
          <p:nvPr/>
        </p:nvSpPr>
        <p:spPr>
          <a:xfrm>
            <a:off x="761695" y="3600907"/>
            <a:ext cx="5219395" cy="6458407"/>
          </a:xfrm>
          <a:prstGeom prst="roundRect">
            <a:avLst>
              <a:gd name="adj" fmla="val 384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761695" y="3600907"/>
            <a:ext cx="47549" cy="645840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6215177" y="1285646"/>
            <a:ext cx="5219395" cy="2876702"/>
          </a:xfrm>
          <a:prstGeom prst="roundRect">
            <a:avLst>
              <a:gd name="adj" fmla="val 126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215177" y="1285646"/>
            <a:ext cx="47549" cy="287670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215177" y="4352544"/>
            <a:ext cx="5219395" cy="5705856"/>
          </a:xfrm>
          <a:prstGeom prst="roundRect">
            <a:avLst>
              <a:gd name="adj" fmla="val 384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215177" y="4352544"/>
            <a:ext cx="47549" cy="570585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491326" y="2048256"/>
            <a:ext cx="4714646" cy="1886407"/>
          </a:xfrm>
          <a:prstGeom prst="roundRect">
            <a:avLst>
              <a:gd name="adj" fmla="val 19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571854" y="2352751"/>
            <a:ext cx="4181551" cy="828446"/>
          </a:xfrm>
          <a:prstGeom prst="roundRect">
            <a:avLst>
              <a:gd name="adj" fmla="val 10149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1037844" y="3829507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91326" y="4581144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1571854" y="1591056"/>
            <a:ext cx="22101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Nguyên lý hoạt động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1571854" y="3905402"/>
            <a:ext cx="10387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Nhận xét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7024421" y="1591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quả 1000 ván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7024421" y="4657954"/>
            <a:ext cx="19531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Phân phối kết quả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571854" y="2029054"/>
            <a:ext cx="34482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Chọn ngẫu nhiên một cột hợp lệ để thả đĩa.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1686154" y="2476195"/>
            <a:ext cx="291053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def random_player(board, player=1):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1876349" y="2676449"/>
            <a:ext cx="17867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acts = actions(board)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1876349" y="2876702"/>
            <a:ext cx="34628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return random.choice(acts) if acts else -1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3933749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1854" y="434340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 txBox="1"/>
          <p:nvPr/>
        </p:nvSpPr>
        <p:spPr>
          <a:xfrm>
            <a:off x="1857146" y="4343400"/>
            <a:ext cx="3934663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Kết quả tương đối cân bằng, xác nhận môi trường hoạt động đúng.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1854" y="489569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1857146" y="4895698"/>
            <a:ext cx="36393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Không có chiến lược → chỉ dùng làm baseline.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6482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6500470" y="2057400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500470" y="2504542"/>
            <a:ext cx="2057400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551469" y="2504542"/>
            <a:ext cx="111465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9657893" y="2504542"/>
            <a:ext cx="1543507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6653174" y="2190902"/>
            <a:ext cx="7342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8845906" y="2190902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 ván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10007194" y="2190902"/>
            <a:ext cx="9528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Phần trăm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500470" y="2523744"/>
            <a:ext cx="4695444" cy="476402"/>
          </a:xfrm>
          <a:prstGeom prst="rect">
            <a:avLst/>
          </a:prstGeom>
          <a:solidFill>
            <a:srgbClr val="EF4444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500470" y="2995574"/>
            <a:ext cx="4695444" cy="466344"/>
          </a:xfrm>
          <a:prstGeom prst="rect">
            <a:avLst/>
          </a:prstGeom>
          <a:solidFill>
            <a:srgbClr val="EAB308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500470" y="3461918"/>
            <a:ext cx="4695444" cy="466344"/>
          </a:xfrm>
          <a:prstGeom prst="rect">
            <a:avLst/>
          </a:prstGeom>
          <a:solidFill>
            <a:srgbClr val="94A3B8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500470" y="2991002"/>
            <a:ext cx="2057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8551469" y="2991002"/>
            <a:ext cx="111465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9657893" y="2991002"/>
            <a:ext cx="1543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500470" y="3452774"/>
            <a:ext cx="20574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8551469" y="3452774"/>
            <a:ext cx="111465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9657893" y="3452774"/>
            <a:ext cx="1543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653174" y="2686507"/>
            <a:ext cx="152705" cy="15270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653174" y="3152851"/>
            <a:ext cx="152705" cy="152705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653174" y="3619195"/>
            <a:ext cx="152705" cy="15270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 txBox="1"/>
          <p:nvPr/>
        </p:nvSpPr>
        <p:spPr>
          <a:xfrm>
            <a:off x="6881774" y="2667305"/>
            <a:ext cx="9244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Red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6881774" y="3133649"/>
            <a:ext cx="11146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Yellow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6881774" y="3600907"/>
            <a:ext cx="4288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Hòa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8968435" y="2667305"/>
            <a:ext cx="3913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567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10211105" y="2667305"/>
            <a:ext cx="5431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56.7%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8967521" y="3133649"/>
            <a:ext cx="3913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432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10208362" y="3133649"/>
            <a:ext cx="5532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43.2%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9076334" y="3600907"/>
            <a:ext cx="1719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10269626" y="3600907"/>
            <a:ext cx="4288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0.1%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0" descr="preencoded.png"/>
          <p:cNvPicPr preferRelativeResize="0"/>
          <p:nvPr/>
        </p:nvPicPr>
        <p:blipFill rotWithShape="1">
          <a:blip r:embed="rId8">
            <a:alphaModFix/>
          </a:blip>
          <a:srcRect t="-841" b="-840"/>
          <a:stretch/>
        </p:blipFill>
        <p:spPr>
          <a:xfrm>
            <a:off x="6586423" y="4686300"/>
            <a:ext cx="19019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1326" y="5115154"/>
            <a:ext cx="4714646" cy="4714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0" y="10291572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81305" y="9291218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/>
          <p:nvPr/>
        </p:nvSpPr>
        <p:spPr>
          <a:xfrm>
            <a:off x="0" y="0"/>
            <a:ext cx="12191695" cy="9620402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761695" y="428854"/>
            <a:ext cx="9358884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9 – MINIMAX + ALPHA–BETA (CONNECT 4)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761695" y="1248156"/>
            <a:ext cx="10668305" cy="3400654"/>
          </a:xfrm>
          <a:prstGeom prst="roundRect">
            <a:avLst>
              <a:gd name="adj" fmla="val 904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61695" y="1248156"/>
            <a:ext cx="47549" cy="340065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1000354" y="1438351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7" name="Google Shape;287;p11" descr="preencoded.png"/>
          <p:cNvPicPr preferRelativeResize="0"/>
          <p:nvPr/>
        </p:nvPicPr>
        <p:blipFill rotWithShape="1">
          <a:blip r:embed="rId3">
            <a:alphaModFix/>
          </a:blip>
          <a:srcRect l="-760" r="-759"/>
          <a:stretch/>
        </p:blipFill>
        <p:spPr>
          <a:xfrm>
            <a:off x="1114654" y="1543507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1"/>
          <p:cNvSpPr/>
          <p:nvPr/>
        </p:nvSpPr>
        <p:spPr>
          <a:xfrm>
            <a:off x="1000354" y="1952244"/>
            <a:ext cx="10239451" cy="2505456"/>
          </a:xfrm>
          <a:prstGeom prst="roundRect">
            <a:avLst>
              <a:gd name="adj" fmla="val 1110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761695" y="4839005"/>
            <a:ext cx="6200546" cy="4401007"/>
          </a:xfrm>
          <a:prstGeom prst="roundRect">
            <a:avLst>
              <a:gd name="adj" fmla="val 54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761695" y="4839005"/>
            <a:ext cx="47549" cy="440100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7153351" y="4839005"/>
            <a:ext cx="4276649" cy="4401007"/>
          </a:xfrm>
          <a:prstGeom prst="roundRect">
            <a:avLst>
              <a:gd name="adj" fmla="val 571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153351" y="4839005"/>
            <a:ext cx="47549" cy="440100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1533449" y="1514246"/>
            <a:ext cx="25246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Mô phỏng 5 bàn cờ mẫu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009498" y="1962302"/>
            <a:ext cx="10220249" cy="41879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1009498" y="2361895"/>
            <a:ext cx="1399946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2409444" y="2361895"/>
            <a:ext cx="218084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4586630" y="2361895"/>
            <a:ext cx="2190902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769303" y="2361895"/>
            <a:ext cx="446684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 txBox="1"/>
          <p:nvPr/>
        </p:nvSpPr>
        <p:spPr>
          <a:xfrm>
            <a:off x="1487729" y="2066544"/>
            <a:ext cx="5550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3068726" y="2066544"/>
            <a:ext cx="97475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Nước tối ưu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5246827" y="2066544"/>
            <a:ext cx="97475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Node duyệt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6922008" y="2066544"/>
            <a:ext cx="7836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Nhận xét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09498" y="2376526"/>
            <a:ext cx="10220249" cy="418795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009498" y="2795321"/>
            <a:ext cx="10220249" cy="4187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009498" y="3209544"/>
            <a:ext cx="10220249" cy="418795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1009498" y="3624682"/>
            <a:ext cx="10220249" cy="41879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1009498" y="4038905"/>
            <a:ext cx="10220249" cy="409651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009498" y="2786177"/>
            <a:ext cx="13999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2409444" y="2786177"/>
            <a:ext cx="2180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586630" y="2786177"/>
            <a:ext cx="21909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769303" y="2786177"/>
            <a:ext cx="4466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1009498" y="3204972"/>
            <a:ext cx="13999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2409444" y="3204972"/>
            <a:ext cx="2180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4586630" y="3204972"/>
            <a:ext cx="21909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769303" y="3204972"/>
            <a:ext cx="4466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1009498" y="3619195"/>
            <a:ext cx="13999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409444" y="3619195"/>
            <a:ext cx="2180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4586630" y="3619195"/>
            <a:ext cx="21909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6769303" y="3619195"/>
            <a:ext cx="4466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1009498" y="4034333"/>
            <a:ext cx="13999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2409444" y="4034333"/>
            <a:ext cx="2180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4586630" y="4034333"/>
            <a:ext cx="21909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6769303" y="4034333"/>
            <a:ext cx="44668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1683410" y="2490826"/>
            <a:ext cx="16459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457346" y="2490826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495544" y="2490826"/>
            <a:ext cx="47914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11,061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6922008" y="2490826"/>
            <a:ext cx="219364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Phát hiện nước thắng ngang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1668780" y="2905049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3471977" y="2905049"/>
            <a:ext cx="16459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5489143" y="2905049"/>
            <a:ext cx="4882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2,430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6922008" y="2905049"/>
            <a:ext cx="14694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Chặn đúng đối thủ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1668780" y="3319272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3457346" y="3319272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5430622" y="3319272"/>
            <a:ext cx="60259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137,027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6922008" y="3319272"/>
            <a:ext cx="201259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Tình huống chéo phức tạp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1662379" y="3733495"/>
            <a:ext cx="20299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3457346" y="3733495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5554066" y="3733495"/>
            <a:ext cx="36484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539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6922008" y="3733495"/>
            <a:ext cx="70774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Gần hòa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1668780" y="4147718"/>
            <a:ext cx="1929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3471977" y="4147718"/>
            <a:ext cx="16459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5368442" y="4147718"/>
            <a:ext cx="72694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1,254,935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6922008" y="4147718"/>
            <a:ext cx="12408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Bùng nổ tổ hợp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000354" y="5029200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5" name="Google Shape;345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4595" y="513435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1"/>
          <p:cNvSpPr/>
          <p:nvPr/>
        </p:nvSpPr>
        <p:spPr>
          <a:xfrm>
            <a:off x="7391095" y="5029200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1"/>
          <p:cNvSpPr txBox="1"/>
          <p:nvPr/>
        </p:nvSpPr>
        <p:spPr>
          <a:xfrm>
            <a:off x="1533449" y="5105095"/>
            <a:ext cx="26865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Hiệu năng Move Ordering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7925105" y="5105095"/>
            <a:ext cx="25438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So đấu Random (50 ván)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878470" y="6860743"/>
            <a:ext cx="152705" cy="152705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9026042" y="6860743"/>
            <a:ext cx="152705" cy="15270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10002622" y="6860743"/>
            <a:ext cx="152705" cy="15270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1000354" y="5593385"/>
            <a:ext cx="1143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000354" y="5884164"/>
            <a:ext cx="114300" cy="114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1190549" y="5553151"/>
            <a:ext cx="259323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Thời gian: giảm 68% (3000 → 945s)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1190549" y="5843930"/>
            <a:ext cx="222199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Node: giảm 57% (18M → 7.6M)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8107070" y="6838798"/>
            <a:ext cx="80284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Thắng: 27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9254642" y="6838798"/>
            <a:ext cx="63185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Hòa: 23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10231222" y="6838798"/>
            <a:ext cx="63185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Thua: 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1" descr="preencoded.png"/>
          <p:cNvPicPr preferRelativeResize="0"/>
          <p:nvPr/>
        </p:nvPicPr>
        <p:blipFill rotWithShape="1">
          <a:blip r:embed="rId5">
            <a:alphaModFix/>
          </a:blip>
          <a:srcRect l="-8" r="-8"/>
          <a:stretch/>
        </p:blipFill>
        <p:spPr>
          <a:xfrm>
            <a:off x="1000354" y="6163056"/>
            <a:ext cx="5772607" cy="2885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 descr="preencoded.png"/>
          <p:cNvPicPr preferRelativeResize="0"/>
          <p:nvPr/>
        </p:nvPicPr>
        <p:blipFill rotWithShape="1">
          <a:blip r:embed="rId6">
            <a:alphaModFix/>
          </a:blip>
          <a:srcRect l="-1064" r="-1064"/>
          <a:stretch/>
        </p:blipFill>
        <p:spPr>
          <a:xfrm>
            <a:off x="7472477" y="5134356"/>
            <a:ext cx="219456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1" descr="preencoded.png"/>
          <p:cNvPicPr preferRelativeResize="0"/>
          <p:nvPr/>
        </p:nvPicPr>
        <p:blipFill rotWithShape="1">
          <a:blip r:embed="rId7">
            <a:alphaModFix/>
          </a:blip>
          <a:srcRect t="-4" b="-4"/>
          <a:stretch/>
        </p:blipFill>
        <p:spPr>
          <a:xfrm>
            <a:off x="7391095" y="5544007"/>
            <a:ext cx="384779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731520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 txBox="1"/>
          <p:nvPr/>
        </p:nvSpPr>
        <p:spPr>
          <a:xfrm>
            <a:off x="7638898" y="7196328"/>
            <a:ext cx="3470148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Kết luận: Minimax chính xác, mạnh, nhưng chi phí cao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0" y="9477756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381305" y="8477402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/>
          <p:nvPr/>
        </p:nvSpPr>
        <p:spPr>
          <a:xfrm>
            <a:off x="0" y="0"/>
            <a:ext cx="12191695" cy="7944307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2"/>
          <p:cNvSpPr txBox="1"/>
          <p:nvPr/>
        </p:nvSpPr>
        <p:spPr>
          <a:xfrm>
            <a:off x="761695" y="428854"/>
            <a:ext cx="9492386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10 – HEURISTIC ALPHA–BETA (CONNECT 4)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761695" y="1285646"/>
            <a:ext cx="5219395" cy="3914546"/>
          </a:xfrm>
          <a:prstGeom prst="roundRect">
            <a:avLst>
              <a:gd name="adj" fmla="val 682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761695" y="1285646"/>
            <a:ext cx="47549" cy="391454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9" name="Google Shape;379;p12" descr="preencoded.png"/>
          <p:cNvPicPr preferRelativeResize="0"/>
          <p:nvPr/>
        </p:nvPicPr>
        <p:blipFill rotWithShape="1">
          <a:blip r:embed="rId3">
            <a:alphaModFix/>
          </a:blip>
          <a:srcRect l="-1064" r="-1064"/>
          <a:stretch/>
        </p:blipFill>
        <p:spPr>
          <a:xfrm>
            <a:off x="1119226" y="1619402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761695" y="5391302"/>
            <a:ext cx="5219395" cy="2171700"/>
          </a:xfrm>
          <a:prstGeom prst="roundRect">
            <a:avLst>
              <a:gd name="adj" fmla="val 2216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761695" y="5391302"/>
            <a:ext cx="47549" cy="2171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1571854" y="3343046"/>
            <a:ext cx="4181551" cy="1628546"/>
          </a:xfrm>
          <a:prstGeom prst="roundRect">
            <a:avLst>
              <a:gd name="adj" fmla="val 2627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2"/>
          <p:cNvSpPr txBox="1"/>
          <p:nvPr/>
        </p:nvSpPr>
        <p:spPr>
          <a:xfrm>
            <a:off x="1571854" y="1591056"/>
            <a:ext cx="15243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Hàm heuristic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1571854" y="2029054"/>
            <a:ext cx="27249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Dừng tìm kiếm ở độ sâu cutoff =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1571854" y="2371954"/>
            <a:ext cx="15819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Đánh giá dựa trên: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2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571854" y="2695651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2"/>
          <p:cNvSpPr txBox="1"/>
          <p:nvPr/>
        </p:nvSpPr>
        <p:spPr>
          <a:xfrm>
            <a:off x="1781251" y="2676449"/>
            <a:ext cx="27249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Đếm số chuỗi 2, 3, 4 quân liên tiếp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12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571854" y="3000146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2"/>
          <p:cNvSpPr/>
          <p:nvPr/>
        </p:nvSpPr>
        <p:spPr>
          <a:xfrm>
            <a:off x="1037844" y="5619902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2"/>
          <p:cNvSpPr txBox="1"/>
          <p:nvPr/>
        </p:nvSpPr>
        <p:spPr>
          <a:xfrm>
            <a:off x="1571854" y="5695798"/>
            <a:ext cx="18004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quả depth=4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1686154" y="3467405"/>
            <a:ext cx="17099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def evaluate(board):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1876349" y="3666744"/>
            <a:ext cx="82478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score =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1876349" y="3866998"/>
            <a:ext cx="33101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score += count_sequences(board, 4) * 100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1876349" y="4067251"/>
            <a:ext cx="322508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score += count_sequences(board, 3) * 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1876349" y="4267505"/>
            <a:ext cx="314827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score += count_sequences(board, 2) * 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1876349" y="4466844"/>
            <a:ext cx="274868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score += center_preference(board)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1876349" y="4667098"/>
            <a:ext cx="10625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return score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1914754" y="6133795"/>
            <a:ext cx="24103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Nước đi tối ưu: col = 1, 2 hoặc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1781251" y="2980944"/>
            <a:ext cx="18672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Ưu tiên vị trí trung tâm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2" descr="preencoded.png"/>
          <p:cNvPicPr preferRelativeResize="0"/>
          <p:nvPr/>
        </p:nvPicPr>
        <p:blipFill rotWithShape="1">
          <a:blip r:embed="rId5">
            <a:alphaModFix/>
          </a:blip>
          <a:srcRect l="-1773" r="-1773"/>
          <a:stretch/>
        </p:blipFill>
        <p:spPr>
          <a:xfrm>
            <a:off x="1162202" y="5724144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2"/>
          <p:cNvSpPr/>
          <p:nvPr/>
        </p:nvSpPr>
        <p:spPr>
          <a:xfrm>
            <a:off x="1571854" y="6115507"/>
            <a:ext cx="228600" cy="2286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2" name="Google Shape;402;p12" descr="preencoded.png"/>
          <p:cNvPicPr preferRelativeResize="0"/>
          <p:nvPr/>
        </p:nvPicPr>
        <p:blipFill rotWithShape="1">
          <a:blip r:embed="rId6">
            <a:alphaModFix/>
          </a:blip>
          <a:srcRect l="-3119" r="-3120"/>
          <a:stretch/>
        </p:blipFill>
        <p:spPr>
          <a:xfrm>
            <a:off x="1647749" y="6172200"/>
            <a:ext cx="758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2"/>
          <p:cNvSpPr/>
          <p:nvPr/>
        </p:nvSpPr>
        <p:spPr>
          <a:xfrm>
            <a:off x="1571854" y="6495898"/>
            <a:ext cx="228600" cy="2286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4" name="Google Shape;404;p12" descr="preencoded.png"/>
          <p:cNvPicPr preferRelativeResize="0"/>
          <p:nvPr/>
        </p:nvPicPr>
        <p:blipFill rotWithShape="1">
          <a:blip r:embed="rId7">
            <a:alphaModFix/>
          </a:blip>
          <a:srcRect l="-1911" r="-1910"/>
          <a:stretch/>
        </p:blipFill>
        <p:spPr>
          <a:xfrm>
            <a:off x="1619402" y="6553505"/>
            <a:ext cx="13350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 txBox="1"/>
          <p:nvPr/>
        </p:nvSpPr>
        <p:spPr>
          <a:xfrm>
            <a:off x="1914754" y="6515100"/>
            <a:ext cx="28200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Trung bình chỉ duyệt vài trăm node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571854" y="6991502"/>
            <a:ext cx="200254" cy="2286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7" name="Google Shape;407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12087" y="704819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2"/>
          <p:cNvSpPr/>
          <p:nvPr/>
        </p:nvSpPr>
        <p:spPr>
          <a:xfrm>
            <a:off x="6215177" y="1285646"/>
            <a:ext cx="5219395" cy="2409444"/>
          </a:xfrm>
          <a:prstGeom prst="roundRect">
            <a:avLst>
              <a:gd name="adj" fmla="val 180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215177" y="1285646"/>
            <a:ext cx="47549" cy="24094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6215177" y="3886200"/>
            <a:ext cx="5219395" cy="3676802"/>
          </a:xfrm>
          <a:prstGeom prst="roundRect">
            <a:avLst>
              <a:gd name="adj" fmla="val 77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6215177" y="3886200"/>
            <a:ext cx="47549" cy="367680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6491326" y="2048256"/>
            <a:ext cx="4714646" cy="1419149"/>
          </a:xfrm>
          <a:prstGeom prst="roundRect">
            <a:avLst>
              <a:gd name="adj" fmla="val 34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2"/>
          <p:cNvSpPr txBox="1"/>
          <p:nvPr/>
        </p:nvSpPr>
        <p:spPr>
          <a:xfrm>
            <a:off x="1880921" y="6896405"/>
            <a:ext cx="3924605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So với Minimax đầy đủ: giảm hàng chục nghìn lần thời gian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1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96482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2"/>
          <p:cNvSpPr/>
          <p:nvPr/>
        </p:nvSpPr>
        <p:spPr>
          <a:xfrm>
            <a:off x="6491326" y="4114800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7024421" y="1591056"/>
            <a:ext cx="21817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Hiệu năng (depth=4)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7024421" y="4190695"/>
            <a:ext cx="19623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So sánh hiệu năng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500470" y="2057400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6500470" y="2504542"/>
            <a:ext cx="1619402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8115300" y="2504542"/>
            <a:ext cx="1762049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9873691" y="2504542"/>
            <a:ext cx="1324051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6653174" y="2190902"/>
            <a:ext cx="9720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Kích thước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8517636" y="2190902"/>
            <a:ext cx="10771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Thời gian (s)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10213848" y="2190902"/>
            <a:ext cx="7626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 node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500470" y="2523744"/>
            <a:ext cx="4695444" cy="476402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500470" y="2991002"/>
            <a:ext cx="16194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8" name="Google Shape;428;p1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53174" y="268650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2"/>
          <p:cNvSpPr/>
          <p:nvPr/>
        </p:nvSpPr>
        <p:spPr>
          <a:xfrm>
            <a:off x="6500470" y="2995574"/>
            <a:ext cx="4695444" cy="466344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8115300" y="2991002"/>
            <a:ext cx="1762049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9873691" y="2991002"/>
            <a:ext cx="13240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6881774" y="2667305"/>
            <a:ext cx="4096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4×4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6881774" y="3133649"/>
            <a:ext cx="3913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5×6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8782812" y="2667305"/>
            <a:ext cx="5431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0.020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10408615" y="2667305"/>
            <a:ext cx="3721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146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1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53174" y="315285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2"/>
          <p:cNvSpPr txBox="1"/>
          <p:nvPr/>
        </p:nvSpPr>
        <p:spPr>
          <a:xfrm>
            <a:off x="8790127" y="3133649"/>
            <a:ext cx="5239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0.052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10415930" y="3133649"/>
            <a:ext cx="3529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192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9" name="Google Shape;439;p1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96482" y="4219956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2" descr="preencoded.png"/>
          <p:cNvPicPr preferRelativeResize="0"/>
          <p:nvPr/>
        </p:nvPicPr>
        <p:blipFill rotWithShape="1">
          <a:blip r:embed="rId12">
            <a:alphaModFix/>
          </a:blip>
          <a:srcRect l="-90" r="-90"/>
          <a:stretch/>
        </p:blipFill>
        <p:spPr>
          <a:xfrm>
            <a:off x="6491326" y="4647895"/>
            <a:ext cx="4714646" cy="2686507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2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0" y="7800746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381305" y="6801307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3"/>
          <p:cNvSpPr/>
          <p:nvPr/>
        </p:nvSpPr>
        <p:spPr>
          <a:xfrm>
            <a:off x="0" y="0"/>
            <a:ext cx="12191695" cy="716249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761695" y="1285646"/>
            <a:ext cx="10668305" cy="2885846"/>
          </a:xfrm>
          <a:prstGeom prst="roundRect">
            <a:avLst>
              <a:gd name="adj" fmla="val 1255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3"/>
          <p:cNvSpPr txBox="1"/>
          <p:nvPr/>
        </p:nvSpPr>
        <p:spPr>
          <a:xfrm>
            <a:off x="761695" y="428854"/>
            <a:ext cx="6387084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11 – KẾT LUẬN CONNECT 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990295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5" name="Google Shape;455;p13" descr="preencoded.png"/>
          <p:cNvPicPr preferRelativeResize="0"/>
          <p:nvPr/>
        </p:nvPicPr>
        <p:blipFill rotWithShape="1">
          <a:blip r:embed="rId3">
            <a:alphaModFix/>
          </a:blip>
          <a:srcRect l="-1064" r="-1064"/>
          <a:stretch/>
        </p:blipFill>
        <p:spPr>
          <a:xfrm>
            <a:off x="1071677" y="1619402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/>
          <p:nvPr/>
        </p:nvSpPr>
        <p:spPr>
          <a:xfrm>
            <a:off x="990295" y="2048256"/>
            <a:ext cx="10211105" cy="1895551"/>
          </a:xfrm>
          <a:prstGeom prst="roundRect">
            <a:avLst>
              <a:gd name="adj" fmla="val 193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761695" y="4401007"/>
            <a:ext cx="5219395" cy="2381098"/>
          </a:xfrm>
          <a:prstGeom prst="roundRect">
            <a:avLst>
              <a:gd name="adj" fmla="val 184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761695" y="4401007"/>
            <a:ext cx="47549" cy="23810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6210605" y="4401007"/>
            <a:ext cx="5219395" cy="2381098"/>
          </a:xfrm>
          <a:prstGeom prst="roundRect">
            <a:avLst>
              <a:gd name="adj" fmla="val 184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6210605" y="4401007"/>
            <a:ext cx="47549" cy="23810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1524305" y="1576426"/>
            <a:ext cx="2634386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So sánh các thuật toán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000354" y="2057400"/>
            <a:ext cx="10191902" cy="4855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1152144" y="2190902"/>
            <a:ext cx="110093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Thuật toán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3700577" y="2190902"/>
            <a:ext cx="89062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Ưu điểm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7522769" y="2190902"/>
            <a:ext cx="86227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Hạn chế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000354" y="2542946"/>
            <a:ext cx="10191902" cy="466344"/>
          </a:xfrm>
          <a:prstGeom prst="rect">
            <a:avLst/>
          </a:prstGeom>
          <a:solidFill>
            <a:srgbClr val="F1F5F9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1000354" y="3000146"/>
            <a:ext cx="25530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144" y="269565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3"/>
          <p:cNvSpPr/>
          <p:nvPr/>
        </p:nvSpPr>
        <p:spPr>
          <a:xfrm>
            <a:off x="1000354" y="3004718"/>
            <a:ext cx="10191902" cy="466344"/>
          </a:xfrm>
          <a:prstGeom prst="rect">
            <a:avLst/>
          </a:prstGeom>
          <a:solidFill>
            <a:srgbClr val="F1F5F9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1000354" y="3471977"/>
            <a:ext cx="10191902" cy="466344"/>
          </a:xfrm>
          <a:prstGeom prst="rect">
            <a:avLst/>
          </a:prstGeom>
          <a:solidFill>
            <a:srgbClr val="F1F5F9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3547872" y="3000146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7370064" y="3000146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1000354" y="3461918"/>
            <a:ext cx="25530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3547872" y="3461918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7370064" y="3461918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3"/>
          <p:cNvSpPr txBox="1"/>
          <p:nvPr/>
        </p:nvSpPr>
        <p:spPr>
          <a:xfrm>
            <a:off x="1380744" y="2676449"/>
            <a:ext cx="7909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Random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3700577" y="2676449"/>
            <a:ext cx="17337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Kiểm thử môi trường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7522769" y="2676449"/>
            <a:ext cx="14676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Không chiến lược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144" y="31619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3"/>
          <p:cNvSpPr txBox="1"/>
          <p:nvPr/>
        </p:nvSpPr>
        <p:spPr>
          <a:xfrm>
            <a:off x="1380744" y="3143707"/>
            <a:ext cx="12390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Minimax + α–β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 txBox="1"/>
          <p:nvPr/>
        </p:nvSpPr>
        <p:spPr>
          <a:xfrm>
            <a:off x="3700577" y="3143707"/>
            <a:ext cx="11814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Chính xác cao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7522769" y="3143707"/>
            <a:ext cx="8577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Rất chậm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13" descr="preencoded.png"/>
          <p:cNvPicPr preferRelativeResize="0"/>
          <p:nvPr/>
        </p:nvPicPr>
        <p:blipFill rotWithShape="1">
          <a:blip r:embed="rId6">
            <a:alphaModFix/>
          </a:blip>
          <a:srcRect t="-100" b="-100"/>
          <a:stretch/>
        </p:blipFill>
        <p:spPr>
          <a:xfrm>
            <a:off x="1152144" y="3629254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 txBox="1"/>
          <p:nvPr/>
        </p:nvSpPr>
        <p:spPr>
          <a:xfrm>
            <a:off x="1343254" y="3610051"/>
            <a:ext cx="11338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Heuristic α–β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3700577" y="3610051"/>
            <a:ext cx="13908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Nhanh, hiệu quả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7522769" y="3610051"/>
            <a:ext cx="20290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Phụ thuộc hàm đánh giá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1037844" y="4629607"/>
            <a:ext cx="342900" cy="3429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8" name="Google Shape;488;p13" descr="preencoded.png"/>
          <p:cNvPicPr preferRelativeResize="0"/>
          <p:nvPr/>
        </p:nvPicPr>
        <p:blipFill rotWithShape="1">
          <a:blip r:embed="rId7">
            <a:alphaModFix/>
          </a:blip>
          <a:srcRect t="-100" b="-100"/>
          <a:stretch/>
        </p:blipFill>
        <p:spPr>
          <a:xfrm>
            <a:off x="1152144" y="4724705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/>
          <p:nvPr/>
        </p:nvSpPr>
        <p:spPr>
          <a:xfrm>
            <a:off x="6486754" y="4629607"/>
            <a:ext cx="342900" cy="3429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3"/>
          <p:cNvSpPr txBox="1"/>
          <p:nvPr/>
        </p:nvSpPr>
        <p:spPr>
          <a:xfrm>
            <a:off x="1495044" y="4686300"/>
            <a:ext cx="10195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Tổng kết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044" y="51627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3"/>
          <p:cNvSpPr txBox="1"/>
          <p:nvPr/>
        </p:nvSpPr>
        <p:spPr>
          <a:xfrm>
            <a:off x="1742846" y="5143500"/>
            <a:ext cx="3857854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Kết hợp cắt tỉa α–β + Move Ordering + Heuristic là cách hiệu quả nhất.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044" y="57342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3"/>
          <p:cNvSpPr txBox="1"/>
          <p:nvPr/>
        </p:nvSpPr>
        <p:spPr>
          <a:xfrm>
            <a:off x="1742846" y="5715000"/>
            <a:ext cx="3676802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Thời gian xử lý giảm mạnh, vẫn giữ được chiến thuật thông minh.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1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851" y="472470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3"/>
          <p:cNvSpPr txBox="1"/>
          <p:nvPr/>
        </p:nvSpPr>
        <p:spPr>
          <a:xfrm>
            <a:off x="6943954" y="4686300"/>
            <a:ext cx="15910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Hiệu suất xử lý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13" descr="preencoded.png"/>
          <p:cNvPicPr preferRelativeResize="0"/>
          <p:nvPr/>
        </p:nvPicPr>
        <p:blipFill rotWithShape="1">
          <a:blip r:embed="rId10">
            <a:alphaModFix/>
          </a:blip>
          <a:srcRect t="-16" b="-15"/>
          <a:stretch/>
        </p:blipFill>
        <p:spPr>
          <a:xfrm>
            <a:off x="6943954" y="5124298"/>
            <a:ext cx="2857500" cy="1429207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3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0" y="7019849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476402" y="6019495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761695" y="1466698"/>
            <a:ext cx="10668305" cy="4914900"/>
          </a:xfrm>
          <a:prstGeom prst="roundRect">
            <a:avLst>
              <a:gd name="adj" fmla="val 433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4"/>
          <p:cNvSpPr txBox="1"/>
          <p:nvPr/>
        </p:nvSpPr>
        <p:spPr>
          <a:xfrm>
            <a:off x="761695" y="523951"/>
            <a:ext cx="10297058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12 – MỞ RỘNG TRÒ CHƠI: MEAN CONNECT 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1872" y="1904695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4"/>
          <p:cNvSpPr/>
          <p:nvPr/>
        </p:nvSpPr>
        <p:spPr>
          <a:xfrm>
            <a:off x="1143000" y="2686507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1143000" y="361919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1143000" y="4552798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1904695" y="1781251"/>
            <a:ext cx="211043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Biến thể mở rộng: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1904695" y="2180844"/>
            <a:ext cx="559612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Giống Connect 4 nhưng thêm hành động "Steal Move" đặc biệt.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p14" descr="preencoded.png"/>
          <p:cNvPicPr preferRelativeResize="0"/>
          <p:nvPr/>
        </p:nvPicPr>
        <p:blipFill rotWithShape="1">
          <a:blip r:embed="rId4">
            <a:alphaModFix/>
          </a:blip>
          <a:srcRect l="-685" r="-685"/>
          <a:stretch/>
        </p:blipFill>
        <p:spPr>
          <a:xfrm>
            <a:off x="1276502" y="2838298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4"/>
          <p:cNvSpPr txBox="1"/>
          <p:nvPr/>
        </p:nvSpPr>
        <p:spPr>
          <a:xfrm>
            <a:off x="1904695" y="2714854"/>
            <a:ext cx="155813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"Steal Move":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1904695" y="3648456"/>
            <a:ext cx="2119579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Tăng độ phức tạp: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/>
        </p:nvSpPr>
        <p:spPr>
          <a:xfrm>
            <a:off x="1904695" y="3114446"/>
            <a:ext cx="656813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Người chơi có thể nhấc quân đối thủ ở hàng dưới cùng và đặt lại vị trí khác.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14" descr="preencoded.png"/>
          <p:cNvPicPr preferRelativeResize="0"/>
          <p:nvPr/>
        </p:nvPicPr>
        <p:blipFill rotWithShape="1">
          <a:blip r:embed="rId5">
            <a:alphaModFix/>
          </a:blip>
          <a:srcRect l="-685" r="-685"/>
          <a:stretch/>
        </p:blipFill>
        <p:spPr>
          <a:xfrm>
            <a:off x="1276502" y="3771900"/>
            <a:ext cx="3044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4"/>
          <p:cNvSpPr txBox="1"/>
          <p:nvPr/>
        </p:nvSpPr>
        <p:spPr>
          <a:xfrm>
            <a:off x="1904695" y="4048049"/>
            <a:ext cx="590153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Số hành động tăng từ ~7 → ~14 → làm tăng mạnh branching factor.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5705" y="4705502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4"/>
          <p:cNvSpPr txBox="1"/>
          <p:nvPr/>
        </p:nvSpPr>
        <p:spPr>
          <a:xfrm>
            <a:off x="1904695" y="4581144"/>
            <a:ext cx="165323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Tính bất định: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1904695" y="4981651"/>
            <a:ext cx="645383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Mỗi lượt chơi có thể thay đổi cấu trúc bàn cờ nhiều hơn, khó dự đoán hơn.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4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4"/>
          <p:cNvSpPr/>
          <p:nvPr/>
        </p:nvSpPr>
        <p:spPr>
          <a:xfrm>
            <a:off x="476402" y="5715000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"/>
          <p:cNvSpPr/>
          <p:nvPr/>
        </p:nvSpPr>
        <p:spPr>
          <a:xfrm>
            <a:off x="0" y="0"/>
            <a:ext cx="12191695" cy="9553651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761695" y="428854"/>
            <a:ext cx="8796528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13 – MÔ HÌNH HÓA (MEAN CONNECT 4)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761695" y="1285646"/>
            <a:ext cx="5219395" cy="3771900"/>
          </a:xfrm>
          <a:prstGeom prst="roundRect">
            <a:avLst>
              <a:gd name="adj" fmla="val 735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761695" y="1285646"/>
            <a:ext cx="47549" cy="377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15" descr="preencoded.png"/>
          <p:cNvPicPr preferRelativeResize="0"/>
          <p:nvPr/>
        </p:nvPicPr>
        <p:blipFill rotWithShape="1">
          <a:blip r:embed="rId3">
            <a:alphaModFix/>
          </a:blip>
          <a:srcRect t="-841" b="-840"/>
          <a:stretch/>
        </p:blipFill>
        <p:spPr>
          <a:xfrm>
            <a:off x="1133856" y="1619402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5"/>
          <p:cNvSpPr/>
          <p:nvPr/>
        </p:nvSpPr>
        <p:spPr>
          <a:xfrm>
            <a:off x="761695" y="5248656"/>
            <a:ext cx="5219395" cy="3924605"/>
          </a:xfrm>
          <a:prstGeom prst="roundRect">
            <a:avLst>
              <a:gd name="adj" fmla="val 679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761695" y="5248656"/>
            <a:ext cx="47549" cy="39246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6215177" y="1285646"/>
            <a:ext cx="5219395" cy="3362249"/>
          </a:xfrm>
          <a:prstGeom prst="roundRect">
            <a:avLst>
              <a:gd name="adj" fmla="val 925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6215177" y="1285646"/>
            <a:ext cx="47549" cy="336224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6215177" y="4839005"/>
            <a:ext cx="5219395" cy="4334256"/>
          </a:xfrm>
          <a:prstGeom prst="roundRect">
            <a:avLst>
              <a:gd name="adj" fmla="val 556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215177" y="4839005"/>
            <a:ext cx="47549" cy="433425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1037844" y="2009851"/>
            <a:ext cx="4714646" cy="2819095"/>
          </a:xfrm>
          <a:prstGeom prst="roundRect">
            <a:avLst>
              <a:gd name="adj" fmla="val 877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1037844" y="5971946"/>
            <a:ext cx="4714646" cy="2971800"/>
          </a:xfrm>
          <a:prstGeom prst="roundRect">
            <a:avLst>
              <a:gd name="adj" fmla="val 789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1037844" y="547725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6491326" y="2048256"/>
            <a:ext cx="2124151" cy="1419149"/>
          </a:xfrm>
          <a:prstGeom prst="roundRect">
            <a:avLst>
              <a:gd name="adj" fmla="val 3459"/>
            </a:avLst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9081821" y="2061972"/>
            <a:ext cx="2124151" cy="1390802"/>
          </a:xfrm>
          <a:prstGeom prst="roundRect">
            <a:avLst>
              <a:gd name="adj" fmla="val 3603"/>
            </a:avLst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6644030" y="6486754"/>
            <a:ext cx="4410151" cy="694944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6644030" y="6486754"/>
            <a:ext cx="38405" cy="6949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6644030" y="7372807"/>
            <a:ext cx="4410151" cy="694944"/>
          </a:xfrm>
          <a:prstGeom prst="rect">
            <a:avLst/>
          </a:prstGeom>
          <a:solidFill>
            <a:srgbClr val="10B981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6644030" y="7372807"/>
            <a:ext cx="38405" cy="6949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5"/>
          <p:cNvSpPr txBox="1"/>
          <p:nvPr/>
        </p:nvSpPr>
        <p:spPr>
          <a:xfrm>
            <a:off x="1571854" y="1591056"/>
            <a:ext cx="19815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Mô hình trạng thái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1571854" y="5553151"/>
            <a:ext cx="23152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Ví dụ minh họa action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 txBox="1"/>
          <p:nvPr/>
        </p:nvSpPr>
        <p:spPr>
          <a:xfrm>
            <a:off x="7024421" y="1591056"/>
            <a:ext cx="28483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Phân tích Branching Factor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7024421" y="5143500"/>
            <a:ext cx="24295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Các agent đã triển khai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1047902" y="2018995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1047902" y="2466137"/>
            <a:ext cx="1324051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2364638" y="2466137"/>
            <a:ext cx="3381451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5"/>
          <p:cNvSpPr txBox="1"/>
          <p:nvPr/>
        </p:nvSpPr>
        <p:spPr>
          <a:xfrm>
            <a:off x="1200607" y="2152498"/>
            <a:ext cx="10671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Thành phần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2517343" y="2152498"/>
            <a:ext cx="5623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Mô tả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1047902" y="2486254"/>
            <a:ext cx="4695444" cy="476402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1047902" y="2957170"/>
            <a:ext cx="4695444" cy="466344"/>
          </a:xfrm>
          <a:prstGeom prst="rect">
            <a:avLst/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1047902" y="3424428"/>
            <a:ext cx="4695444" cy="466344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1047902" y="3890772"/>
            <a:ext cx="4695444" cy="466344"/>
          </a:xfrm>
          <a:prstGeom prst="rect">
            <a:avLst/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1047902" y="4358030"/>
            <a:ext cx="4695444" cy="466344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1047902" y="2953512"/>
            <a:ext cx="13240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2364638" y="2953512"/>
            <a:ext cx="33814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1047902" y="3414370"/>
            <a:ext cx="13240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2364638" y="3414370"/>
            <a:ext cx="33814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1047902" y="3881628"/>
            <a:ext cx="13240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2364638" y="3881628"/>
            <a:ext cx="33814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1047902" y="4347972"/>
            <a:ext cx="13240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2364638" y="4347972"/>
            <a:ext cx="33814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5"/>
          <p:cNvSpPr txBox="1"/>
          <p:nvPr/>
        </p:nvSpPr>
        <p:spPr>
          <a:xfrm>
            <a:off x="1200607" y="2628900"/>
            <a:ext cx="5239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State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 txBox="1"/>
          <p:nvPr/>
        </p:nvSpPr>
        <p:spPr>
          <a:xfrm>
            <a:off x="1200607" y="3095244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 txBox="1"/>
          <p:nvPr/>
        </p:nvSpPr>
        <p:spPr>
          <a:xfrm>
            <a:off x="1200607" y="3562502"/>
            <a:ext cx="8961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Transition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 txBox="1"/>
          <p:nvPr/>
        </p:nvSpPr>
        <p:spPr>
          <a:xfrm>
            <a:off x="1200607" y="4028846"/>
            <a:ext cx="8101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Terminal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 txBox="1"/>
          <p:nvPr/>
        </p:nvSpPr>
        <p:spPr>
          <a:xfrm>
            <a:off x="1200607" y="4496105"/>
            <a:ext cx="5815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 txBox="1"/>
          <p:nvPr/>
        </p:nvSpPr>
        <p:spPr>
          <a:xfrm>
            <a:off x="2517343" y="2628900"/>
            <a:ext cx="30202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Ma trận gồm 1 (Max), -1 (Min), 0 (trống)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 txBox="1"/>
          <p:nvPr/>
        </p:nvSpPr>
        <p:spPr>
          <a:xfrm>
            <a:off x="2517343" y="3095244"/>
            <a:ext cx="22485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drop(col) hoặc steal(src, dst)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 txBox="1"/>
          <p:nvPr/>
        </p:nvSpPr>
        <p:spPr>
          <a:xfrm>
            <a:off x="2517343" y="3562502"/>
            <a:ext cx="26481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Cập nhật bàn cờ sau khi thả/steal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 txBox="1"/>
          <p:nvPr/>
        </p:nvSpPr>
        <p:spPr>
          <a:xfrm>
            <a:off x="2517343" y="4028846"/>
            <a:ext cx="23820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 quân liên tiếp hoặc bàn đầy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 txBox="1"/>
          <p:nvPr/>
        </p:nvSpPr>
        <p:spPr>
          <a:xfrm>
            <a:off x="2517343" y="4496105"/>
            <a:ext cx="23719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+1 nếu Max thắng, -1 nếu thua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p15" descr="preencoded.png"/>
          <p:cNvPicPr preferRelativeResize="0"/>
          <p:nvPr/>
        </p:nvPicPr>
        <p:blipFill rotWithShape="1">
          <a:blip r:embed="rId4">
            <a:alphaModFix/>
          </a:blip>
          <a:srcRect l="-1064" r="-1064"/>
          <a:stretch/>
        </p:blipFill>
        <p:spPr>
          <a:xfrm>
            <a:off x="1119226" y="5581498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5"/>
          <p:cNvSpPr txBox="1"/>
          <p:nvPr/>
        </p:nvSpPr>
        <p:spPr>
          <a:xfrm>
            <a:off x="1190549" y="6133795"/>
            <a:ext cx="162488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# Ví dụ drop 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 txBox="1"/>
          <p:nvPr/>
        </p:nvSpPr>
        <p:spPr>
          <a:xfrm>
            <a:off x="1190549" y="6409944"/>
            <a:ext cx="298643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def drop_action(board, col, player):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 txBox="1"/>
          <p:nvPr/>
        </p:nvSpPr>
        <p:spPr>
          <a:xfrm>
            <a:off x="1380744" y="6610198"/>
            <a:ext cx="291053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row = get_next_open_row(board, col)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 txBox="1"/>
          <p:nvPr/>
        </p:nvSpPr>
        <p:spPr>
          <a:xfrm>
            <a:off x="1380744" y="6810451"/>
            <a:ext cx="202448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board[row][col] = player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 txBox="1"/>
          <p:nvPr/>
        </p:nvSpPr>
        <p:spPr>
          <a:xfrm>
            <a:off x="1380744" y="7010705"/>
            <a:ext cx="10625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return 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 txBox="1"/>
          <p:nvPr/>
        </p:nvSpPr>
        <p:spPr>
          <a:xfrm>
            <a:off x="1190549" y="7324344"/>
            <a:ext cx="17099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# Ví dụ steal action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 txBox="1"/>
          <p:nvPr/>
        </p:nvSpPr>
        <p:spPr>
          <a:xfrm>
            <a:off x="1190549" y="7601407"/>
            <a:ext cx="41102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def steal_action(board, src_col, dst_col, player):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 txBox="1"/>
          <p:nvPr/>
        </p:nvSpPr>
        <p:spPr>
          <a:xfrm>
            <a:off x="1380744" y="7800746"/>
            <a:ext cx="354878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bottom_row = get_bottom_row(board, src_col)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 txBox="1"/>
          <p:nvPr/>
        </p:nvSpPr>
        <p:spPr>
          <a:xfrm>
            <a:off x="1380744" y="8001000"/>
            <a:ext cx="251002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board[bottom_row][src_col] =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 txBox="1"/>
          <p:nvPr/>
        </p:nvSpPr>
        <p:spPr>
          <a:xfrm>
            <a:off x="1380744" y="8201254"/>
            <a:ext cx="322508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row = get_next_open_row(board, dst_col)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 txBox="1"/>
          <p:nvPr/>
        </p:nvSpPr>
        <p:spPr>
          <a:xfrm>
            <a:off x="1380744" y="8401507"/>
            <a:ext cx="2348179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board[row][dst_col] = player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 txBox="1"/>
          <p:nvPr/>
        </p:nvSpPr>
        <p:spPr>
          <a:xfrm>
            <a:off x="1380744" y="8600846"/>
            <a:ext cx="106253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return 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4" name="Google Shape;604;p15" descr="preencoded.png"/>
          <p:cNvPicPr preferRelativeResize="0"/>
          <p:nvPr/>
        </p:nvPicPr>
        <p:blipFill rotWithShape="1">
          <a:blip r:embed="rId5">
            <a:alphaModFix/>
          </a:blip>
          <a:srcRect t="-841" b="-840"/>
          <a:stretch/>
        </p:blipFill>
        <p:spPr>
          <a:xfrm>
            <a:off x="6586423" y="1619402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5"/>
          <p:cNvSpPr txBox="1"/>
          <p:nvPr/>
        </p:nvSpPr>
        <p:spPr>
          <a:xfrm>
            <a:off x="6882689" y="2219249"/>
            <a:ext cx="1457554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Connect 4 Thông Thường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 txBox="1"/>
          <p:nvPr/>
        </p:nvSpPr>
        <p:spPr>
          <a:xfrm>
            <a:off x="9507017" y="2233879"/>
            <a:ext cx="13908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Mean Connect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 txBox="1"/>
          <p:nvPr/>
        </p:nvSpPr>
        <p:spPr>
          <a:xfrm>
            <a:off x="6886346" y="2743200"/>
            <a:ext cx="143377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Số hành động: 7 cột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5"/>
          <p:cNvSpPr txBox="1"/>
          <p:nvPr/>
        </p:nvSpPr>
        <p:spPr>
          <a:xfrm>
            <a:off x="9357055" y="2529230"/>
            <a:ext cx="1672438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Số hành động: ~7 + ~7 = ~14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 txBox="1"/>
          <p:nvPr/>
        </p:nvSpPr>
        <p:spPr>
          <a:xfrm>
            <a:off x="6795821" y="3676802"/>
            <a:ext cx="4362602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Độ phức tạp tăng: Tăng branching factor → tăng không gian tìm kiếm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 txBox="1"/>
          <p:nvPr/>
        </p:nvSpPr>
        <p:spPr>
          <a:xfrm>
            <a:off x="6776618" y="4209898"/>
            <a:ext cx="42391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Tính bất định cao: Steal move thay đổi cấu trúc bàn cờ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6795821" y="6644030"/>
            <a:ext cx="381305" cy="381305"/>
          </a:xfrm>
          <a:prstGeom prst="ellipse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6795821" y="7529170"/>
            <a:ext cx="381305" cy="381305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6693408" y="3047695"/>
            <a:ext cx="247802" cy="267005"/>
          </a:xfrm>
          <a:prstGeom prst="roundRect">
            <a:avLst>
              <a:gd name="adj" fmla="val 5677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5"/>
          <p:cNvSpPr/>
          <p:nvPr/>
        </p:nvSpPr>
        <p:spPr>
          <a:xfrm>
            <a:off x="6938467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5"/>
          <p:cNvSpPr/>
          <p:nvPr/>
        </p:nvSpPr>
        <p:spPr>
          <a:xfrm>
            <a:off x="7183526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5"/>
          <p:cNvSpPr/>
          <p:nvPr/>
        </p:nvSpPr>
        <p:spPr>
          <a:xfrm>
            <a:off x="7428586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7673645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15"/>
          <p:cNvSpPr/>
          <p:nvPr/>
        </p:nvSpPr>
        <p:spPr>
          <a:xfrm>
            <a:off x="7918704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8163763" y="3047695"/>
            <a:ext cx="247802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0" name="Google Shape;620;p15" descr="preencoded.png"/>
          <p:cNvPicPr preferRelativeResize="0"/>
          <p:nvPr/>
        </p:nvPicPr>
        <p:blipFill rotWithShape="1">
          <a:blip r:embed="rId6">
            <a:alphaModFix/>
          </a:blip>
          <a:srcRect l="-56" r="-57"/>
          <a:stretch/>
        </p:blipFill>
        <p:spPr>
          <a:xfrm>
            <a:off x="8746236" y="2643530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5"/>
          <p:cNvSpPr/>
          <p:nvPr/>
        </p:nvSpPr>
        <p:spPr>
          <a:xfrm>
            <a:off x="6491326" y="5067605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6644030" y="5600700"/>
            <a:ext cx="4410151" cy="694944"/>
          </a:xfrm>
          <a:prstGeom prst="rect">
            <a:avLst/>
          </a:prstGeom>
          <a:solidFill>
            <a:srgbClr val="EF4444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5"/>
          <p:cNvSpPr/>
          <p:nvPr/>
        </p:nvSpPr>
        <p:spPr>
          <a:xfrm>
            <a:off x="6644030" y="5600700"/>
            <a:ext cx="38405" cy="6949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5"/>
          <p:cNvSpPr/>
          <p:nvPr/>
        </p:nvSpPr>
        <p:spPr>
          <a:xfrm>
            <a:off x="6795821" y="5757977"/>
            <a:ext cx="381305" cy="381305"/>
          </a:xfrm>
          <a:prstGeom prst="ellipse">
            <a:avLst/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9283903" y="3033979"/>
            <a:ext cx="123444" cy="267005"/>
          </a:xfrm>
          <a:prstGeom prst="roundRect">
            <a:avLst>
              <a:gd name="adj" fmla="val 22792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9406433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9528962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5"/>
          <p:cNvSpPr/>
          <p:nvPr/>
        </p:nvSpPr>
        <p:spPr>
          <a:xfrm>
            <a:off x="9651492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774022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5"/>
          <p:cNvSpPr/>
          <p:nvPr/>
        </p:nvSpPr>
        <p:spPr>
          <a:xfrm>
            <a:off x="9896551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10019081" y="3033979"/>
            <a:ext cx="123444" cy="2670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5"/>
          <p:cNvSpPr/>
          <p:nvPr/>
        </p:nvSpPr>
        <p:spPr>
          <a:xfrm>
            <a:off x="10141610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10264140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10386670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10509199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10631729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10754258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5"/>
          <p:cNvSpPr/>
          <p:nvPr/>
        </p:nvSpPr>
        <p:spPr>
          <a:xfrm>
            <a:off x="10876788" y="3033979"/>
            <a:ext cx="123444" cy="267005"/>
          </a:xfrm>
          <a:prstGeom prst="rect">
            <a:avLst/>
          </a:prstGeom>
          <a:solidFill>
            <a:srgbClr val="0C8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9" name="Google Shape;639;p15" descr="preencoded.png"/>
          <p:cNvPicPr preferRelativeResize="0"/>
          <p:nvPr/>
        </p:nvPicPr>
        <p:blipFill rotWithShape="1">
          <a:blip r:embed="rId7">
            <a:alphaModFix/>
          </a:blip>
          <a:srcRect t="-841" b="-840"/>
          <a:stretch/>
        </p:blipFill>
        <p:spPr>
          <a:xfrm>
            <a:off x="6491326" y="3800246"/>
            <a:ext cx="19019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1326" y="4219956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15" descr="preencoded.png"/>
          <p:cNvPicPr preferRelativeResize="0"/>
          <p:nvPr/>
        </p:nvPicPr>
        <p:blipFill rotWithShape="1">
          <a:blip r:embed="rId9">
            <a:alphaModFix/>
          </a:blip>
          <a:srcRect l="-1064" r="-1064"/>
          <a:stretch/>
        </p:blipFill>
        <p:spPr>
          <a:xfrm>
            <a:off x="6572707" y="5171846"/>
            <a:ext cx="219456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1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10121" y="587227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5"/>
          <p:cNvSpPr txBox="1"/>
          <p:nvPr/>
        </p:nvSpPr>
        <p:spPr>
          <a:xfrm>
            <a:off x="7329830" y="5734202"/>
            <a:ext cx="13149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Random Agent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 txBox="1"/>
          <p:nvPr/>
        </p:nvSpPr>
        <p:spPr>
          <a:xfrm>
            <a:off x="7329830" y="6620256"/>
            <a:ext cx="17629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Minimax + α–β Agent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 txBox="1"/>
          <p:nvPr/>
        </p:nvSpPr>
        <p:spPr>
          <a:xfrm>
            <a:off x="7329830" y="5991149"/>
            <a:ext cx="349117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Chọn ngẫu nhiên giữa drop(col) hoặc steal(src, dst)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15" descr="preencoded.png"/>
          <p:cNvPicPr preferRelativeResize="0"/>
          <p:nvPr/>
        </p:nvPicPr>
        <p:blipFill rotWithShape="1">
          <a:blip r:embed="rId11">
            <a:alphaModFix/>
          </a:blip>
          <a:srcRect t="-43" b="-42"/>
          <a:stretch/>
        </p:blipFill>
        <p:spPr>
          <a:xfrm>
            <a:off x="6920179" y="6758330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5"/>
          <p:cNvSpPr txBox="1"/>
          <p:nvPr/>
        </p:nvSpPr>
        <p:spPr>
          <a:xfrm>
            <a:off x="7329830" y="7505395"/>
            <a:ext cx="16578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Heuristic α–β Agent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 txBox="1"/>
          <p:nvPr/>
        </p:nvSpPr>
        <p:spPr>
          <a:xfrm>
            <a:off x="7329830" y="6877202"/>
            <a:ext cx="266273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Tìm kiếm đầy đủ với cắt tỉa alpha-beta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9" name="Google Shape;649;p1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10121" y="7643470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5"/>
          <p:cNvSpPr txBox="1"/>
          <p:nvPr/>
        </p:nvSpPr>
        <p:spPr>
          <a:xfrm>
            <a:off x="7329830" y="7763256"/>
            <a:ext cx="3215030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Tìm kiếm có chiều sâu cố định + hàm đánh giá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0" y="9411005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381305" y="8410651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6"/>
          <p:cNvSpPr/>
          <p:nvPr/>
        </p:nvSpPr>
        <p:spPr>
          <a:xfrm>
            <a:off x="0" y="0"/>
            <a:ext cx="12191695" cy="801014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6"/>
          <p:cNvSpPr txBox="1"/>
          <p:nvPr/>
        </p:nvSpPr>
        <p:spPr>
          <a:xfrm>
            <a:off x="761695" y="428854"/>
            <a:ext cx="10654589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14 – KẾT QUẢ THỰC NGHIỆM (MEAN CONNECT 4)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6"/>
          <p:cNvSpPr/>
          <p:nvPr/>
        </p:nvSpPr>
        <p:spPr>
          <a:xfrm>
            <a:off x="761695" y="1285646"/>
            <a:ext cx="5219395" cy="1790395"/>
          </a:xfrm>
          <a:prstGeom prst="roundRect">
            <a:avLst>
              <a:gd name="adj" fmla="val 326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761695" y="1285646"/>
            <a:ext cx="47549" cy="179039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6"/>
          <p:cNvSpPr/>
          <p:nvPr/>
        </p:nvSpPr>
        <p:spPr>
          <a:xfrm>
            <a:off x="761695" y="4914900"/>
            <a:ext cx="5219395" cy="2714854"/>
          </a:xfrm>
          <a:prstGeom prst="roundRect">
            <a:avLst>
              <a:gd name="adj" fmla="val 1418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761695" y="4914900"/>
            <a:ext cx="47549" cy="271485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1000354" y="147675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8" name="Google Shape;668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595" y="158099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6"/>
          <p:cNvSpPr/>
          <p:nvPr/>
        </p:nvSpPr>
        <p:spPr>
          <a:xfrm>
            <a:off x="761695" y="3267151"/>
            <a:ext cx="5219395" cy="1457554"/>
          </a:xfrm>
          <a:prstGeom prst="roundRect">
            <a:avLst>
              <a:gd name="adj" fmla="val 492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761695" y="3267151"/>
            <a:ext cx="47549" cy="145755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1000354" y="34573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1000354" y="5105095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6"/>
          <p:cNvSpPr txBox="1"/>
          <p:nvPr/>
        </p:nvSpPr>
        <p:spPr>
          <a:xfrm>
            <a:off x="1533449" y="1552651"/>
            <a:ext cx="26956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Random Agent (1000 ván)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6"/>
          <p:cNvSpPr txBox="1"/>
          <p:nvPr/>
        </p:nvSpPr>
        <p:spPr>
          <a:xfrm>
            <a:off x="1533449" y="3534156"/>
            <a:ext cx="23052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Minimax + α–β (cutoff)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6"/>
          <p:cNvSpPr txBox="1"/>
          <p:nvPr/>
        </p:nvSpPr>
        <p:spPr>
          <a:xfrm>
            <a:off x="1533449" y="5181905"/>
            <a:ext cx="25530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Heuristic α–β (depth 3–5)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/>
          <p:nvPr/>
        </p:nvSpPr>
        <p:spPr>
          <a:xfrm>
            <a:off x="1533449" y="2090318"/>
            <a:ext cx="857707" cy="676656"/>
          </a:xfrm>
          <a:prstGeom prst="roundRect">
            <a:avLst>
              <a:gd name="adj" fmla="val 15226"/>
            </a:avLst>
          </a:prstGeom>
          <a:solidFill>
            <a:srgbClr val="EF4444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2581351" y="1990649"/>
            <a:ext cx="857707" cy="875995"/>
          </a:xfrm>
          <a:prstGeom prst="roundRect">
            <a:avLst>
              <a:gd name="adj" fmla="val 9476"/>
            </a:avLst>
          </a:prstGeom>
          <a:solidFill>
            <a:srgbClr val="EAB308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6"/>
          <p:cNvSpPr/>
          <p:nvPr/>
        </p:nvSpPr>
        <p:spPr>
          <a:xfrm>
            <a:off x="3629254" y="2090318"/>
            <a:ext cx="857707" cy="676656"/>
          </a:xfrm>
          <a:prstGeom prst="roundRect">
            <a:avLst>
              <a:gd name="adj" fmla="val 15226"/>
            </a:avLst>
          </a:prstGeom>
          <a:solidFill>
            <a:srgbClr val="94A3B8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1645006" y="2195474"/>
            <a:ext cx="73883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Đỏ thắng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6"/>
          <p:cNvSpPr txBox="1"/>
          <p:nvPr/>
        </p:nvSpPr>
        <p:spPr>
          <a:xfrm>
            <a:off x="1786738" y="2414930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793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6"/>
          <p:cNvSpPr txBox="1"/>
          <p:nvPr/>
        </p:nvSpPr>
        <p:spPr>
          <a:xfrm>
            <a:off x="2676449" y="2095805"/>
            <a:ext cx="510235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Vàng thắng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6"/>
          <p:cNvSpPr txBox="1"/>
          <p:nvPr/>
        </p:nvSpPr>
        <p:spPr>
          <a:xfrm>
            <a:off x="2831897" y="2514600"/>
            <a:ext cx="5056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B308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Montserrat"/>
                <a:ea typeface="Montserrat"/>
                <a:cs typeface="Montserrat"/>
                <a:sym typeface="Montserrat"/>
              </a:rPr>
              <a:t>205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6"/>
          <p:cNvSpPr txBox="1"/>
          <p:nvPr/>
        </p:nvSpPr>
        <p:spPr>
          <a:xfrm>
            <a:off x="3922776" y="2195474"/>
            <a:ext cx="376733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Hòa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6"/>
          <p:cNvSpPr txBox="1"/>
          <p:nvPr/>
        </p:nvSpPr>
        <p:spPr>
          <a:xfrm>
            <a:off x="4001414" y="2414930"/>
            <a:ext cx="2578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5" name="Google Shape;685;p16" descr="preencoded.png"/>
          <p:cNvPicPr preferRelativeResize="0"/>
          <p:nvPr/>
        </p:nvPicPr>
        <p:blipFill rotWithShape="1">
          <a:blip r:embed="rId4">
            <a:alphaModFix/>
          </a:blip>
          <a:srcRect l="-760" r="-759"/>
          <a:stretch/>
        </p:blipFill>
        <p:spPr>
          <a:xfrm>
            <a:off x="4772254" y="2343607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6"/>
          <p:cNvSpPr txBox="1"/>
          <p:nvPr/>
        </p:nvSpPr>
        <p:spPr>
          <a:xfrm>
            <a:off x="5020056" y="1990649"/>
            <a:ext cx="848563" cy="86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Đỏ thắng áp đảo → hệ thống hợp lệ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7" name="Google Shape;687;p16" descr="preencoded.png"/>
          <p:cNvPicPr preferRelativeResize="0"/>
          <p:nvPr/>
        </p:nvPicPr>
        <p:blipFill rotWithShape="1">
          <a:blip r:embed="rId5">
            <a:alphaModFix/>
          </a:blip>
          <a:srcRect t="-841" b="-840"/>
          <a:stretch/>
        </p:blipFill>
        <p:spPr>
          <a:xfrm>
            <a:off x="1095451" y="3562502"/>
            <a:ext cx="19019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449" y="398404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6"/>
          <p:cNvSpPr txBox="1"/>
          <p:nvPr/>
        </p:nvSpPr>
        <p:spPr>
          <a:xfrm>
            <a:off x="1781251" y="3962095"/>
            <a:ext cx="19266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Nước tối ưu: drop col=3, 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0" name="Google Shape;690;p16" descr="preencoded.png"/>
          <p:cNvPicPr preferRelativeResize="0"/>
          <p:nvPr/>
        </p:nvPicPr>
        <p:blipFill rotWithShape="1">
          <a:blip r:embed="rId7">
            <a:alphaModFix/>
          </a:blip>
          <a:srcRect l="-33" r="-32"/>
          <a:stretch/>
        </p:blipFill>
        <p:spPr>
          <a:xfrm>
            <a:off x="1533449" y="4273906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16"/>
          <p:cNvSpPr txBox="1"/>
          <p:nvPr/>
        </p:nvSpPr>
        <p:spPr>
          <a:xfrm>
            <a:off x="1800454" y="4252874"/>
            <a:ext cx="203179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Đấu 100 ván → thắng 100%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2" name="Google Shape;692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4595" y="5210251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449" y="573877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16"/>
          <p:cNvSpPr txBox="1"/>
          <p:nvPr/>
        </p:nvSpPr>
        <p:spPr>
          <a:xfrm>
            <a:off x="1781251" y="5609844"/>
            <a:ext cx="3860597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Nước tối ưu: col=3 hoặc 6; depth=5: col=6 (thắng trực tiếp)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33449" y="613653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6"/>
          <p:cNvSpPr/>
          <p:nvPr/>
        </p:nvSpPr>
        <p:spPr>
          <a:xfrm>
            <a:off x="6215177" y="1285646"/>
            <a:ext cx="5219395" cy="2848356"/>
          </a:xfrm>
          <a:prstGeom prst="roundRect">
            <a:avLst>
              <a:gd name="adj" fmla="val 1288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6215177" y="1285646"/>
            <a:ext cx="47549" cy="284835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6215177" y="4319626"/>
            <a:ext cx="5219395" cy="3314700"/>
          </a:xfrm>
          <a:prstGeom prst="roundRect">
            <a:avLst>
              <a:gd name="adj" fmla="val 951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6215177" y="4319626"/>
            <a:ext cx="47549" cy="3314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6452921" y="2009851"/>
            <a:ext cx="4791456" cy="1933956"/>
          </a:xfrm>
          <a:prstGeom prst="roundRect">
            <a:avLst>
              <a:gd name="adj" fmla="val 1863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6452921" y="147675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6"/>
          <p:cNvSpPr txBox="1"/>
          <p:nvPr/>
        </p:nvSpPr>
        <p:spPr>
          <a:xfrm>
            <a:off x="1781251" y="6115507"/>
            <a:ext cx="40133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Thời gian tăng theo cấp số mũ nhưng vẫn khả thi (≤6s)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3" name="Google Shape;703;p1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8077" y="158099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6"/>
          <p:cNvSpPr/>
          <p:nvPr/>
        </p:nvSpPr>
        <p:spPr>
          <a:xfrm>
            <a:off x="6452921" y="4509821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6"/>
          <p:cNvSpPr txBox="1"/>
          <p:nvPr/>
        </p:nvSpPr>
        <p:spPr>
          <a:xfrm>
            <a:off x="6986930" y="1552651"/>
            <a:ext cx="31912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Thời gian trung bình (Minimax)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 txBox="1"/>
          <p:nvPr/>
        </p:nvSpPr>
        <p:spPr>
          <a:xfrm>
            <a:off x="6986930" y="4586630"/>
            <a:ext cx="34482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Tăng trưởng thời gian theo số cột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6462979" y="2018995"/>
            <a:ext cx="4772254" cy="409651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6462979" y="2419502"/>
            <a:ext cx="17903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8245145" y="2419502"/>
            <a:ext cx="29910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6"/>
          <p:cNvSpPr txBox="1"/>
          <p:nvPr/>
        </p:nvSpPr>
        <p:spPr>
          <a:xfrm>
            <a:off x="7125005" y="2124151"/>
            <a:ext cx="57424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 cột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 txBox="1"/>
          <p:nvPr/>
        </p:nvSpPr>
        <p:spPr>
          <a:xfrm>
            <a:off x="9290304" y="2124151"/>
            <a:ext cx="100309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Thời gian (s)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6462979" y="2428646"/>
            <a:ext cx="4772254" cy="381305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6462979" y="2805379"/>
            <a:ext cx="4772254" cy="381305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6462979" y="3181198"/>
            <a:ext cx="4772254" cy="381305"/>
          </a:xfrm>
          <a:prstGeom prst="rect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6462979" y="3557930"/>
            <a:ext cx="4772254" cy="371246"/>
          </a:xfrm>
          <a:prstGeom prst="rect">
            <a:avLst/>
          </a:prstGeom>
          <a:solidFill>
            <a:srgbClr val="0EA5E9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6462979" y="2800807"/>
            <a:ext cx="17903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8245145" y="2800807"/>
            <a:ext cx="29910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6462979" y="3177540"/>
            <a:ext cx="17903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6"/>
          <p:cNvSpPr/>
          <p:nvPr/>
        </p:nvSpPr>
        <p:spPr>
          <a:xfrm>
            <a:off x="8245145" y="3177540"/>
            <a:ext cx="29910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6462979" y="3553358"/>
            <a:ext cx="179039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8245145" y="3553358"/>
            <a:ext cx="29910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6"/>
          <p:cNvSpPr txBox="1"/>
          <p:nvPr/>
        </p:nvSpPr>
        <p:spPr>
          <a:xfrm>
            <a:off x="7174382" y="2519172"/>
            <a:ext cx="4700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 cột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 txBox="1"/>
          <p:nvPr/>
        </p:nvSpPr>
        <p:spPr>
          <a:xfrm>
            <a:off x="9564624" y="2519172"/>
            <a:ext cx="45994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0.111s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"/>
          <p:cNvSpPr txBox="1"/>
          <p:nvPr/>
        </p:nvSpPr>
        <p:spPr>
          <a:xfrm>
            <a:off x="7180783" y="2895905"/>
            <a:ext cx="45994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 cột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6"/>
          <p:cNvSpPr txBox="1"/>
          <p:nvPr/>
        </p:nvSpPr>
        <p:spPr>
          <a:xfrm>
            <a:off x="9531706" y="2895905"/>
            <a:ext cx="52669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0.271s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 txBox="1"/>
          <p:nvPr/>
        </p:nvSpPr>
        <p:spPr>
          <a:xfrm>
            <a:off x="7178040" y="3271723"/>
            <a:ext cx="4700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6 cột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6"/>
          <p:cNvSpPr txBox="1"/>
          <p:nvPr/>
        </p:nvSpPr>
        <p:spPr>
          <a:xfrm>
            <a:off x="9517075" y="3271723"/>
            <a:ext cx="55504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0.559s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6"/>
          <p:cNvSpPr txBox="1"/>
          <p:nvPr/>
        </p:nvSpPr>
        <p:spPr>
          <a:xfrm>
            <a:off x="7178954" y="3648456"/>
            <a:ext cx="45994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7 cột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6"/>
          <p:cNvSpPr txBox="1"/>
          <p:nvPr/>
        </p:nvSpPr>
        <p:spPr>
          <a:xfrm>
            <a:off x="9534449" y="3648456"/>
            <a:ext cx="51755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Montserrat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1.027s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0" name="Google Shape;730;p1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58077" y="4614977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16" descr="preencoded.png"/>
          <p:cNvPicPr preferRelativeResize="0"/>
          <p:nvPr/>
        </p:nvPicPr>
        <p:blipFill rotWithShape="1">
          <a:blip r:embed="rId12">
            <a:alphaModFix/>
          </a:blip>
          <a:srcRect t="-95" b="-94"/>
          <a:stretch/>
        </p:blipFill>
        <p:spPr>
          <a:xfrm>
            <a:off x="6452921" y="5043830"/>
            <a:ext cx="4791456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6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0" y="7865669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381305" y="6865315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761695" y="1466698"/>
            <a:ext cx="10668305" cy="4914900"/>
          </a:xfrm>
          <a:prstGeom prst="roundRect">
            <a:avLst>
              <a:gd name="adj" fmla="val 433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7"/>
          <p:cNvSpPr txBox="1"/>
          <p:nvPr/>
        </p:nvSpPr>
        <p:spPr>
          <a:xfrm>
            <a:off x="761695" y="523951"/>
            <a:ext cx="8468258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000"/>
              <a:buFont typeface="Montserrat"/>
              <a:buNone/>
            </a:pPr>
            <a:r>
              <a:rPr lang="en-US" sz="30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15 – NHẬN XÉT (MEAN CONNECT 4)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7"/>
          <p:cNvSpPr/>
          <p:nvPr/>
        </p:nvSpPr>
        <p:spPr>
          <a:xfrm>
            <a:off x="761695" y="1143000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7"/>
          <p:cNvSpPr/>
          <p:nvPr/>
        </p:nvSpPr>
        <p:spPr>
          <a:xfrm>
            <a:off x="1143000" y="175290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6" name="Google Shape;74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1872" y="1904695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17"/>
          <p:cNvSpPr/>
          <p:nvPr/>
        </p:nvSpPr>
        <p:spPr>
          <a:xfrm>
            <a:off x="1143000" y="2590495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1143000" y="4324198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7"/>
          <p:cNvSpPr txBox="1"/>
          <p:nvPr/>
        </p:nvSpPr>
        <p:spPr>
          <a:xfrm>
            <a:off x="1904695" y="1772107"/>
            <a:ext cx="5425135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"Steal Move" làm tăng độ phức tạp trạng thái và tính bất định.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0" name="Google Shape;75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1872" y="2743200"/>
            <a:ext cx="3337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17"/>
          <p:cNvSpPr txBox="1"/>
          <p:nvPr/>
        </p:nvSpPr>
        <p:spPr>
          <a:xfrm>
            <a:off x="1904695" y="4753051"/>
            <a:ext cx="540593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✅ Kết hợp cắt tỉa, move ordering và heuristic là hướng tối ưu.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7"/>
          <p:cNvSpPr txBox="1"/>
          <p:nvPr/>
        </p:nvSpPr>
        <p:spPr>
          <a:xfrm>
            <a:off x="1904695" y="2619756"/>
            <a:ext cx="2348179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Đánh giá các Agent: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 txBox="1"/>
          <p:nvPr/>
        </p:nvSpPr>
        <p:spPr>
          <a:xfrm>
            <a:off x="1904695" y="4352544"/>
            <a:ext cx="1119226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luận: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7"/>
          <p:cNvSpPr txBox="1"/>
          <p:nvPr/>
        </p:nvSpPr>
        <p:spPr>
          <a:xfrm>
            <a:off x="1904695" y="3019349"/>
            <a:ext cx="234817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Random: chỉ để kiểm thử.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 txBox="1"/>
          <p:nvPr/>
        </p:nvSpPr>
        <p:spPr>
          <a:xfrm>
            <a:off x="1904695" y="3372307"/>
            <a:ext cx="480608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Minimax + α–β: chính xác, nhưng nhanh chóng quá tải.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7"/>
          <p:cNvSpPr txBox="1"/>
          <p:nvPr/>
        </p:nvSpPr>
        <p:spPr>
          <a:xfrm>
            <a:off x="1904695" y="3724351"/>
            <a:ext cx="5110582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Heuristic α–β: thời gian nhanh hơn nhiều, vẫn thông minh.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7" name="Google Shape;757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705" y="4476902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17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7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7"/>
          <p:cNvSpPr/>
          <p:nvPr/>
        </p:nvSpPr>
        <p:spPr>
          <a:xfrm>
            <a:off x="476402" y="5715000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8"/>
          <p:cNvSpPr/>
          <p:nvPr/>
        </p:nvSpPr>
        <p:spPr>
          <a:xfrm>
            <a:off x="0" y="0"/>
            <a:ext cx="12191695" cy="7153351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8"/>
          <p:cNvSpPr txBox="1"/>
          <p:nvPr/>
        </p:nvSpPr>
        <p:spPr>
          <a:xfrm>
            <a:off x="761695" y="428854"/>
            <a:ext cx="7853782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16 – LUẬT CHƠI DOTS AND BOXES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8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0" name="Google Shape;770;p18" descr="preencoded.png"/>
          <p:cNvPicPr preferRelativeResize="0"/>
          <p:nvPr/>
        </p:nvPicPr>
        <p:blipFill rotWithShape="1">
          <a:blip r:embed="rId3">
            <a:alphaModFix/>
          </a:blip>
          <a:srcRect l="4" r="3"/>
          <a:stretch/>
        </p:blipFill>
        <p:spPr>
          <a:xfrm>
            <a:off x="3238805" y="1248156"/>
            <a:ext cx="5715000" cy="381030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18"/>
          <p:cNvSpPr/>
          <p:nvPr/>
        </p:nvSpPr>
        <p:spPr>
          <a:xfrm>
            <a:off x="9334195" y="1819656"/>
            <a:ext cx="1714500" cy="895198"/>
          </a:xfrm>
          <a:prstGeom prst="roundRect">
            <a:avLst>
              <a:gd name="adj" fmla="val 10866"/>
            </a:avLst>
          </a:prstGeom>
          <a:solidFill>
            <a:srgbClr val="FFFFFF">
              <a:alpha val="89803"/>
            </a:srgbClr>
          </a:solidFill>
          <a:ln>
            <a:noFill/>
          </a:ln>
          <a:effectLst>
            <a:outerShdw blurRad="76200" dist="254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9334195" y="1819656"/>
            <a:ext cx="38405" cy="8951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3" name="Google Shape;773;p18" descr="preencoded.png"/>
          <p:cNvPicPr preferRelativeResize="0"/>
          <p:nvPr/>
        </p:nvPicPr>
        <p:blipFill rotWithShape="1">
          <a:blip r:embed="rId4">
            <a:alphaModFix/>
          </a:blip>
          <a:srcRect l="-33" r="-32"/>
          <a:stretch/>
        </p:blipFill>
        <p:spPr>
          <a:xfrm>
            <a:off x="9486900" y="1962302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18"/>
          <p:cNvSpPr/>
          <p:nvPr/>
        </p:nvSpPr>
        <p:spPr>
          <a:xfrm>
            <a:off x="761695" y="5248656"/>
            <a:ext cx="10668305" cy="1524305"/>
          </a:xfrm>
          <a:prstGeom prst="roundRect">
            <a:avLst>
              <a:gd name="adj" fmla="val 4499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8"/>
          <p:cNvSpPr txBox="1"/>
          <p:nvPr/>
        </p:nvSpPr>
        <p:spPr>
          <a:xfrm>
            <a:off x="9706356" y="1952244"/>
            <a:ext cx="5907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Điểm!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9486900" y="2210105"/>
            <a:ext cx="1215238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Người chơi hoàn thành ô vuông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8"/>
          <p:cNvSpPr/>
          <p:nvPr/>
        </p:nvSpPr>
        <p:spPr>
          <a:xfrm>
            <a:off x="1047902" y="5438851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8" name="Google Shape;778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798" y="551474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18"/>
          <p:cNvSpPr/>
          <p:nvPr/>
        </p:nvSpPr>
        <p:spPr>
          <a:xfrm>
            <a:off x="1047902" y="5820156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8"/>
          <p:cNvSpPr/>
          <p:nvPr/>
        </p:nvSpPr>
        <p:spPr>
          <a:xfrm>
            <a:off x="6191402" y="5960974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8"/>
          <p:cNvSpPr txBox="1"/>
          <p:nvPr/>
        </p:nvSpPr>
        <p:spPr>
          <a:xfrm>
            <a:off x="1429207" y="5484571"/>
            <a:ext cx="25630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Bàn gồm các dots theo lưới R×C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2" name="Google Shape;782;p18" descr="preencoded.png"/>
          <p:cNvPicPr preferRelativeResize="0"/>
          <p:nvPr/>
        </p:nvPicPr>
        <p:blipFill rotWithShape="1">
          <a:blip r:embed="rId6">
            <a:alphaModFix/>
          </a:blip>
          <a:srcRect t="-1100" b="-1100"/>
          <a:stretch/>
        </p:blipFill>
        <p:spPr>
          <a:xfrm>
            <a:off x="1133856" y="5896051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18"/>
          <p:cNvSpPr/>
          <p:nvPr/>
        </p:nvSpPr>
        <p:spPr>
          <a:xfrm>
            <a:off x="1047902" y="6200546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8"/>
          <p:cNvSpPr/>
          <p:nvPr/>
        </p:nvSpPr>
        <p:spPr>
          <a:xfrm>
            <a:off x="6191402" y="5509260"/>
            <a:ext cx="286207" cy="286207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8"/>
          <p:cNvSpPr txBox="1"/>
          <p:nvPr/>
        </p:nvSpPr>
        <p:spPr>
          <a:xfrm>
            <a:off x="1429207" y="5865876"/>
            <a:ext cx="40773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Người chơi nối 2 điểm liền kề bằng đoạn ngang/dọc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6" name="Google Shape;786;p18" descr="preencoded.png"/>
          <p:cNvPicPr preferRelativeResize="0"/>
          <p:nvPr/>
        </p:nvPicPr>
        <p:blipFill rotWithShape="1">
          <a:blip r:embed="rId7">
            <a:alphaModFix/>
          </a:blip>
          <a:srcRect t="-1100" b="-1100"/>
          <a:stretch/>
        </p:blipFill>
        <p:spPr>
          <a:xfrm>
            <a:off x="1133856" y="6277356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18"/>
          <p:cNvSpPr txBox="1"/>
          <p:nvPr/>
        </p:nvSpPr>
        <p:spPr>
          <a:xfrm>
            <a:off x="1429207" y="6246266"/>
            <a:ext cx="45436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Khi hoàn tất 4 cạnh của một ô vuông → ghi điểm &amp; đi tiếp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8" name="Google Shape;788;p18" descr="preencoded.png"/>
          <p:cNvPicPr preferRelativeResize="0"/>
          <p:nvPr/>
        </p:nvPicPr>
        <p:blipFill rotWithShape="1">
          <a:blip r:embed="rId8">
            <a:alphaModFix/>
          </a:blip>
          <a:srcRect t="-1100" b="-1100"/>
          <a:stretch/>
        </p:blipFill>
        <p:spPr>
          <a:xfrm>
            <a:off x="6277356" y="558515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8"/>
          <p:cNvSpPr txBox="1"/>
          <p:nvPr/>
        </p:nvSpPr>
        <p:spPr>
          <a:xfrm>
            <a:off x="6572707" y="5447995"/>
            <a:ext cx="4239158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Kết thúc: khi mọi cạnh đã được vẽ → người có nhiều ô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67298" y="603686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18"/>
          <p:cNvSpPr txBox="1"/>
          <p:nvPr/>
        </p:nvSpPr>
        <p:spPr>
          <a:xfrm>
            <a:off x="6572707" y="6006694"/>
            <a:ext cx="32964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Chiến thuật: tránh "mở chuỗi" cho đối thủ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0" y="7010705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8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476402" y="6010351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9"/>
          <p:cNvSpPr/>
          <p:nvPr/>
        </p:nvSpPr>
        <p:spPr>
          <a:xfrm>
            <a:off x="0" y="0"/>
            <a:ext cx="12191695" cy="10439705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9"/>
          <p:cNvSpPr txBox="1"/>
          <p:nvPr/>
        </p:nvSpPr>
        <p:spPr>
          <a:xfrm>
            <a:off x="761695" y="428854"/>
            <a:ext cx="9225382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17 – RANDOM AGENT (DOTS AND BOXES)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9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9"/>
          <p:cNvSpPr/>
          <p:nvPr/>
        </p:nvSpPr>
        <p:spPr>
          <a:xfrm>
            <a:off x="761695" y="1285646"/>
            <a:ext cx="5219395" cy="3571646"/>
          </a:xfrm>
          <a:prstGeom prst="roundRect">
            <a:avLst>
              <a:gd name="adj" fmla="val 819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9"/>
          <p:cNvSpPr/>
          <p:nvPr/>
        </p:nvSpPr>
        <p:spPr>
          <a:xfrm>
            <a:off x="761695" y="1285646"/>
            <a:ext cx="47549" cy="357164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9"/>
          <p:cNvSpPr/>
          <p:nvPr/>
        </p:nvSpPr>
        <p:spPr>
          <a:xfrm>
            <a:off x="6491326" y="2048256"/>
            <a:ext cx="4714646" cy="1886407"/>
          </a:xfrm>
          <a:prstGeom prst="roundRect">
            <a:avLst>
              <a:gd name="adj" fmla="val 19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9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8" name="Google Shape;808;p19" descr="preencoded.png"/>
          <p:cNvPicPr preferRelativeResize="0"/>
          <p:nvPr/>
        </p:nvPicPr>
        <p:blipFill rotWithShape="1">
          <a:blip r:embed="rId3">
            <a:alphaModFix/>
          </a:blip>
          <a:srcRect l="-1064" r="-1064"/>
          <a:stretch/>
        </p:blipFill>
        <p:spPr>
          <a:xfrm>
            <a:off x="1119226" y="1619402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9"/>
          <p:cNvSpPr/>
          <p:nvPr/>
        </p:nvSpPr>
        <p:spPr>
          <a:xfrm>
            <a:off x="761695" y="5048402"/>
            <a:ext cx="5219395" cy="5009998"/>
          </a:xfrm>
          <a:prstGeom prst="roundRect">
            <a:avLst>
              <a:gd name="adj" fmla="val 416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9"/>
          <p:cNvSpPr/>
          <p:nvPr/>
        </p:nvSpPr>
        <p:spPr>
          <a:xfrm>
            <a:off x="761695" y="5048402"/>
            <a:ext cx="47549" cy="50099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9"/>
          <p:cNvSpPr/>
          <p:nvPr/>
        </p:nvSpPr>
        <p:spPr>
          <a:xfrm>
            <a:off x="1571854" y="2391156"/>
            <a:ext cx="4181551" cy="2238451"/>
          </a:xfrm>
          <a:prstGeom prst="roundRect">
            <a:avLst>
              <a:gd name="adj" fmla="val 139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9"/>
          <p:cNvSpPr/>
          <p:nvPr/>
        </p:nvSpPr>
        <p:spPr>
          <a:xfrm>
            <a:off x="1037844" y="5277002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9"/>
          <p:cNvSpPr txBox="1"/>
          <p:nvPr/>
        </p:nvSpPr>
        <p:spPr>
          <a:xfrm>
            <a:off x="1571854" y="1591056"/>
            <a:ext cx="22201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Thiết lập thử nghiệm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9"/>
          <p:cNvSpPr txBox="1"/>
          <p:nvPr/>
        </p:nvSpPr>
        <p:spPr>
          <a:xfrm>
            <a:off x="1571854" y="2029054"/>
            <a:ext cx="34774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Random vs Random (4×4 dots, 1000 games)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19" descr="preencoded.png"/>
          <p:cNvPicPr preferRelativeResize="0"/>
          <p:nvPr/>
        </p:nvPicPr>
        <p:blipFill rotWithShape="1">
          <a:blip r:embed="rId4">
            <a:alphaModFix/>
          </a:blip>
          <a:srcRect t="17470" b="17471"/>
          <a:stretch/>
        </p:blipFill>
        <p:spPr>
          <a:xfrm>
            <a:off x="1686154" y="2505456"/>
            <a:ext cx="3952951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9"/>
          <p:cNvSpPr txBox="1"/>
          <p:nvPr/>
        </p:nvSpPr>
        <p:spPr>
          <a:xfrm>
            <a:off x="2579522" y="4324198"/>
            <a:ext cx="226222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Bàn chơi Dots and Boxes 4×4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7" name="Google Shape;817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538124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9"/>
          <p:cNvSpPr txBox="1"/>
          <p:nvPr/>
        </p:nvSpPr>
        <p:spPr>
          <a:xfrm>
            <a:off x="1571854" y="5352898"/>
            <a:ext cx="18955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Phân tích kết quả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9" name="Google Shape;819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1854" y="579089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19"/>
          <p:cNvSpPr txBox="1"/>
          <p:nvPr/>
        </p:nvSpPr>
        <p:spPr>
          <a:xfrm>
            <a:off x="1857146" y="5790895"/>
            <a:ext cx="30294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Tổng số hộp là lẻ (9) → không thể hòa.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1" name="Google Shape;821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1854" y="617220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9"/>
          <p:cNvSpPr/>
          <p:nvPr/>
        </p:nvSpPr>
        <p:spPr>
          <a:xfrm>
            <a:off x="6215177" y="4352544"/>
            <a:ext cx="5219395" cy="5705856"/>
          </a:xfrm>
          <a:prstGeom prst="roundRect">
            <a:avLst>
              <a:gd name="adj" fmla="val 384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9"/>
          <p:cNvSpPr/>
          <p:nvPr/>
        </p:nvSpPr>
        <p:spPr>
          <a:xfrm>
            <a:off x="6215177" y="4352544"/>
            <a:ext cx="47549" cy="570585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9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9"/>
          <p:cNvSpPr/>
          <p:nvPr/>
        </p:nvSpPr>
        <p:spPr>
          <a:xfrm>
            <a:off x="6491326" y="4581144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9"/>
          <p:cNvSpPr txBox="1"/>
          <p:nvPr/>
        </p:nvSpPr>
        <p:spPr>
          <a:xfrm>
            <a:off x="7024421" y="4657954"/>
            <a:ext cx="19531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Phân phối kết quả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9"/>
          <p:cNvSpPr txBox="1"/>
          <p:nvPr/>
        </p:nvSpPr>
        <p:spPr>
          <a:xfrm>
            <a:off x="1857146" y="6172200"/>
            <a:ext cx="28867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Người đi trước có lợi thế nhỏ (~3.2%).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1854" y="655350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9"/>
          <p:cNvSpPr/>
          <p:nvPr/>
        </p:nvSpPr>
        <p:spPr>
          <a:xfrm>
            <a:off x="6215177" y="1285646"/>
            <a:ext cx="5219395" cy="2876702"/>
          </a:xfrm>
          <a:prstGeom prst="roundRect">
            <a:avLst>
              <a:gd name="adj" fmla="val 126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9"/>
          <p:cNvSpPr/>
          <p:nvPr/>
        </p:nvSpPr>
        <p:spPr>
          <a:xfrm>
            <a:off x="6215177" y="1285646"/>
            <a:ext cx="47549" cy="287670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9"/>
          <p:cNvSpPr txBox="1"/>
          <p:nvPr/>
        </p:nvSpPr>
        <p:spPr>
          <a:xfrm>
            <a:off x="1857146" y="6553505"/>
            <a:ext cx="23052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✅ Kết quả phù hợp kỳ vọng.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2" name="Google Shape;832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96482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19"/>
          <p:cNvSpPr txBox="1"/>
          <p:nvPr/>
        </p:nvSpPr>
        <p:spPr>
          <a:xfrm>
            <a:off x="7024421" y="1591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quả 1000 ván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9"/>
          <p:cNvSpPr/>
          <p:nvPr/>
        </p:nvSpPr>
        <p:spPr>
          <a:xfrm>
            <a:off x="6500470" y="2057400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9"/>
          <p:cNvSpPr/>
          <p:nvPr/>
        </p:nvSpPr>
        <p:spPr>
          <a:xfrm>
            <a:off x="6500470" y="2504542"/>
            <a:ext cx="1943100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9"/>
          <p:cNvSpPr/>
          <p:nvPr/>
        </p:nvSpPr>
        <p:spPr>
          <a:xfrm>
            <a:off x="8441741" y="2504542"/>
            <a:ext cx="115214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9"/>
          <p:cNvSpPr/>
          <p:nvPr/>
        </p:nvSpPr>
        <p:spPr>
          <a:xfrm>
            <a:off x="9593885" y="2504542"/>
            <a:ext cx="1600200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9"/>
          <p:cNvSpPr txBox="1"/>
          <p:nvPr/>
        </p:nvSpPr>
        <p:spPr>
          <a:xfrm>
            <a:off x="6653174" y="2190902"/>
            <a:ext cx="7342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Kết quả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9"/>
          <p:cNvSpPr txBox="1"/>
          <p:nvPr/>
        </p:nvSpPr>
        <p:spPr>
          <a:xfrm>
            <a:off x="8759038" y="2190902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 ván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 txBox="1"/>
          <p:nvPr/>
        </p:nvSpPr>
        <p:spPr>
          <a:xfrm>
            <a:off x="9975190" y="2190902"/>
            <a:ext cx="9528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Phần trăm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6500470" y="2523744"/>
            <a:ext cx="4695444" cy="476402"/>
          </a:xfrm>
          <a:prstGeom prst="rect">
            <a:avLst/>
          </a:prstGeom>
          <a:solidFill>
            <a:srgbClr val="EF4444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6500470" y="2995574"/>
            <a:ext cx="4695444" cy="466344"/>
          </a:xfrm>
          <a:prstGeom prst="rect">
            <a:avLst/>
          </a:prstGeom>
          <a:solidFill>
            <a:srgbClr val="3B82F6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9"/>
          <p:cNvSpPr/>
          <p:nvPr/>
        </p:nvSpPr>
        <p:spPr>
          <a:xfrm>
            <a:off x="6500470" y="3461918"/>
            <a:ext cx="4695444" cy="466344"/>
          </a:xfrm>
          <a:prstGeom prst="rect">
            <a:avLst/>
          </a:prstGeom>
          <a:solidFill>
            <a:srgbClr val="94A3B8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6500470" y="2991002"/>
            <a:ext cx="19431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8441741" y="2991002"/>
            <a:ext cx="11521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9"/>
          <p:cNvSpPr/>
          <p:nvPr/>
        </p:nvSpPr>
        <p:spPr>
          <a:xfrm>
            <a:off x="9593885" y="2991002"/>
            <a:ext cx="1600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9"/>
          <p:cNvSpPr/>
          <p:nvPr/>
        </p:nvSpPr>
        <p:spPr>
          <a:xfrm>
            <a:off x="6500470" y="3452774"/>
            <a:ext cx="19431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8441741" y="3452774"/>
            <a:ext cx="11521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9"/>
          <p:cNvSpPr/>
          <p:nvPr/>
        </p:nvSpPr>
        <p:spPr>
          <a:xfrm>
            <a:off x="9593885" y="3452774"/>
            <a:ext cx="1600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6653174" y="2686507"/>
            <a:ext cx="152705" cy="15270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9"/>
          <p:cNvSpPr/>
          <p:nvPr/>
        </p:nvSpPr>
        <p:spPr>
          <a:xfrm>
            <a:off x="6653174" y="3152851"/>
            <a:ext cx="152705" cy="15270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6653174" y="3619195"/>
            <a:ext cx="152705" cy="152705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9"/>
          <p:cNvSpPr txBox="1"/>
          <p:nvPr/>
        </p:nvSpPr>
        <p:spPr>
          <a:xfrm>
            <a:off x="6881774" y="2667305"/>
            <a:ext cx="9244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Red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9"/>
          <p:cNvSpPr txBox="1"/>
          <p:nvPr/>
        </p:nvSpPr>
        <p:spPr>
          <a:xfrm>
            <a:off x="6881774" y="3133649"/>
            <a:ext cx="9720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Blue thắng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9"/>
          <p:cNvSpPr txBox="1"/>
          <p:nvPr/>
        </p:nvSpPr>
        <p:spPr>
          <a:xfrm>
            <a:off x="6881774" y="3600907"/>
            <a:ext cx="4288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Hòa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9"/>
          <p:cNvSpPr txBox="1"/>
          <p:nvPr/>
        </p:nvSpPr>
        <p:spPr>
          <a:xfrm>
            <a:off x="8898941" y="2667305"/>
            <a:ext cx="3529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516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 txBox="1"/>
          <p:nvPr/>
        </p:nvSpPr>
        <p:spPr>
          <a:xfrm>
            <a:off x="10199218" y="2667305"/>
            <a:ext cx="5056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51.6%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9"/>
          <p:cNvSpPr txBox="1"/>
          <p:nvPr/>
        </p:nvSpPr>
        <p:spPr>
          <a:xfrm>
            <a:off x="8866022" y="3133649"/>
            <a:ext cx="4197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484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 txBox="1"/>
          <p:nvPr/>
        </p:nvSpPr>
        <p:spPr>
          <a:xfrm>
            <a:off x="10166299" y="3133649"/>
            <a:ext cx="57150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48.4%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9"/>
          <p:cNvSpPr txBox="1"/>
          <p:nvPr/>
        </p:nvSpPr>
        <p:spPr>
          <a:xfrm>
            <a:off x="8967521" y="3600907"/>
            <a:ext cx="2194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 txBox="1"/>
          <p:nvPr/>
        </p:nvSpPr>
        <p:spPr>
          <a:xfrm>
            <a:off x="10279685" y="3600907"/>
            <a:ext cx="34290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2" name="Google Shape;862;p19" descr="preencoded.png"/>
          <p:cNvPicPr preferRelativeResize="0"/>
          <p:nvPr/>
        </p:nvPicPr>
        <p:blipFill rotWithShape="1">
          <a:blip r:embed="rId9">
            <a:alphaModFix/>
          </a:blip>
          <a:srcRect t="-841" b="-840"/>
          <a:stretch/>
        </p:blipFill>
        <p:spPr>
          <a:xfrm>
            <a:off x="6586423" y="4686300"/>
            <a:ext cx="19019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91326" y="5115154"/>
            <a:ext cx="4714646" cy="4714646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19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9"/>
          <p:cNvSpPr/>
          <p:nvPr/>
        </p:nvSpPr>
        <p:spPr>
          <a:xfrm>
            <a:off x="0" y="10291572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9"/>
          <p:cNvSpPr/>
          <p:nvPr/>
        </p:nvSpPr>
        <p:spPr>
          <a:xfrm>
            <a:off x="381305" y="9291218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0"/>
          <p:cNvSpPr/>
          <p:nvPr/>
        </p:nvSpPr>
        <p:spPr>
          <a:xfrm>
            <a:off x="0" y="0"/>
            <a:ext cx="12191695" cy="90297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0"/>
          <p:cNvSpPr txBox="1"/>
          <p:nvPr/>
        </p:nvSpPr>
        <p:spPr>
          <a:xfrm>
            <a:off x="761695" y="428854"/>
            <a:ext cx="10711282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18 – MINIMAX + ALPHA–BETA (DOTS AND BOXES)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0"/>
          <p:cNvSpPr/>
          <p:nvPr/>
        </p:nvSpPr>
        <p:spPr>
          <a:xfrm>
            <a:off x="761695" y="1285646"/>
            <a:ext cx="5219395" cy="2838298"/>
          </a:xfrm>
          <a:prstGeom prst="roundRect">
            <a:avLst>
              <a:gd name="adj" fmla="val 1297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0"/>
          <p:cNvSpPr/>
          <p:nvPr/>
        </p:nvSpPr>
        <p:spPr>
          <a:xfrm>
            <a:off x="761695" y="1285646"/>
            <a:ext cx="47549" cy="283829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0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9" name="Google Shape;879;p20" descr="preencoded.png"/>
          <p:cNvPicPr preferRelativeResize="0"/>
          <p:nvPr/>
        </p:nvPicPr>
        <p:blipFill rotWithShape="1">
          <a:blip r:embed="rId3">
            <a:alphaModFix/>
          </a:blip>
          <a:srcRect l="-760" r="-759"/>
          <a:stretch/>
        </p:blipFill>
        <p:spPr>
          <a:xfrm>
            <a:off x="1152144" y="1619402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20"/>
          <p:cNvSpPr/>
          <p:nvPr/>
        </p:nvSpPr>
        <p:spPr>
          <a:xfrm>
            <a:off x="6215177" y="1285646"/>
            <a:ext cx="5219395" cy="2752344"/>
          </a:xfrm>
          <a:prstGeom prst="roundRect">
            <a:avLst>
              <a:gd name="adj" fmla="val 1379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0"/>
          <p:cNvSpPr/>
          <p:nvPr/>
        </p:nvSpPr>
        <p:spPr>
          <a:xfrm>
            <a:off x="6215177" y="1285646"/>
            <a:ext cx="47549" cy="275234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0"/>
          <p:cNvSpPr/>
          <p:nvPr/>
        </p:nvSpPr>
        <p:spPr>
          <a:xfrm>
            <a:off x="1037844" y="2009851"/>
            <a:ext cx="4714646" cy="1886407"/>
          </a:xfrm>
          <a:prstGeom prst="roundRect">
            <a:avLst>
              <a:gd name="adj" fmla="val 19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0"/>
          <p:cNvSpPr/>
          <p:nvPr/>
        </p:nvSpPr>
        <p:spPr>
          <a:xfrm>
            <a:off x="6491326" y="2009851"/>
            <a:ext cx="4714646" cy="1419149"/>
          </a:xfrm>
          <a:prstGeom prst="roundRect">
            <a:avLst>
              <a:gd name="adj" fmla="val 34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0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0"/>
          <p:cNvSpPr txBox="1"/>
          <p:nvPr/>
        </p:nvSpPr>
        <p:spPr>
          <a:xfrm>
            <a:off x="1571854" y="1591056"/>
            <a:ext cx="15910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quả cụ thể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0"/>
          <p:cNvSpPr txBox="1"/>
          <p:nvPr/>
        </p:nvSpPr>
        <p:spPr>
          <a:xfrm>
            <a:off x="7024421" y="1591056"/>
            <a:ext cx="11722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Hiệu năng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0"/>
          <p:cNvSpPr/>
          <p:nvPr/>
        </p:nvSpPr>
        <p:spPr>
          <a:xfrm>
            <a:off x="1047902" y="2018995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0"/>
          <p:cNvSpPr/>
          <p:nvPr/>
        </p:nvSpPr>
        <p:spPr>
          <a:xfrm>
            <a:off x="6500470" y="2018995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0"/>
          <p:cNvSpPr/>
          <p:nvPr/>
        </p:nvSpPr>
        <p:spPr>
          <a:xfrm>
            <a:off x="1047902" y="2466137"/>
            <a:ext cx="819302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1858061" y="2466137"/>
            <a:ext cx="857707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0"/>
          <p:cNvSpPr/>
          <p:nvPr/>
        </p:nvSpPr>
        <p:spPr>
          <a:xfrm>
            <a:off x="2708453" y="2466137"/>
            <a:ext cx="1200607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0"/>
          <p:cNvSpPr/>
          <p:nvPr/>
        </p:nvSpPr>
        <p:spPr>
          <a:xfrm>
            <a:off x="3906317" y="2466137"/>
            <a:ext cx="183794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6500470" y="2466137"/>
            <a:ext cx="1819656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0"/>
          <p:cNvSpPr/>
          <p:nvPr/>
        </p:nvSpPr>
        <p:spPr>
          <a:xfrm>
            <a:off x="8312810" y="2466137"/>
            <a:ext cx="1619402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9930384" y="2466137"/>
            <a:ext cx="1266444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0"/>
          <p:cNvSpPr txBox="1"/>
          <p:nvPr/>
        </p:nvSpPr>
        <p:spPr>
          <a:xfrm>
            <a:off x="1200607" y="2152498"/>
            <a:ext cx="4956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"/>
          <p:cNvSpPr txBox="1"/>
          <p:nvPr/>
        </p:nvSpPr>
        <p:spPr>
          <a:xfrm>
            <a:off x="2026310" y="2152498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 txBox="1"/>
          <p:nvPr/>
        </p:nvSpPr>
        <p:spPr>
          <a:xfrm>
            <a:off x="2872130" y="2152498"/>
            <a:ext cx="9912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0"/>
          <p:cNvSpPr txBox="1"/>
          <p:nvPr/>
        </p:nvSpPr>
        <p:spPr>
          <a:xfrm>
            <a:off x="4466844" y="2152498"/>
            <a:ext cx="8293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Nhận xét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 txBox="1"/>
          <p:nvPr/>
        </p:nvSpPr>
        <p:spPr>
          <a:xfrm>
            <a:off x="6653174" y="2152498"/>
            <a:ext cx="9720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Kích thước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0"/>
          <p:cNvSpPr txBox="1"/>
          <p:nvPr/>
        </p:nvSpPr>
        <p:spPr>
          <a:xfrm>
            <a:off x="8758123" y="2152498"/>
            <a:ext cx="8485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Thời gian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 txBox="1"/>
          <p:nvPr/>
        </p:nvSpPr>
        <p:spPr>
          <a:xfrm>
            <a:off x="10311689" y="2152498"/>
            <a:ext cx="6199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Nodes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0"/>
          <p:cNvSpPr/>
          <p:nvPr/>
        </p:nvSpPr>
        <p:spPr>
          <a:xfrm>
            <a:off x="1047902" y="2486254"/>
            <a:ext cx="4695444" cy="476402"/>
          </a:xfrm>
          <a:prstGeom prst="rect">
            <a:avLst/>
          </a:prstGeom>
          <a:solidFill>
            <a:srgbClr val="10B981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20"/>
          <p:cNvSpPr/>
          <p:nvPr/>
        </p:nvSpPr>
        <p:spPr>
          <a:xfrm>
            <a:off x="1047902" y="2957170"/>
            <a:ext cx="4695444" cy="466344"/>
          </a:xfrm>
          <a:prstGeom prst="rect">
            <a:avLst/>
          </a:prstGeom>
          <a:solidFill>
            <a:srgbClr val="EF4444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1047902" y="3424428"/>
            <a:ext cx="4695444" cy="466344"/>
          </a:xfrm>
          <a:prstGeom prst="rect">
            <a:avLst/>
          </a:prstGeom>
          <a:solidFill>
            <a:srgbClr val="10B981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0"/>
          <p:cNvSpPr/>
          <p:nvPr/>
        </p:nvSpPr>
        <p:spPr>
          <a:xfrm>
            <a:off x="1047902" y="2953512"/>
            <a:ext cx="8193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1858061" y="2953512"/>
            <a:ext cx="8577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0"/>
          <p:cNvSpPr/>
          <p:nvPr/>
        </p:nvSpPr>
        <p:spPr>
          <a:xfrm>
            <a:off x="2708453" y="2953512"/>
            <a:ext cx="12006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3906317" y="2953512"/>
            <a:ext cx="18379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0"/>
          <p:cNvSpPr/>
          <p:nvPr/>
        </p:nvSpPr>
        <p:spPr>
          <a:xfrm>
            <a:off x="1047902" y="3414370"/>
            <a:ext cx="8193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1858061" y="3414370"/>
            <a:ext cx="8577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0"/>
          <p:cNvSpPr/>
          <p:nvPr/>
        </p:nvSpPr>
        <p:spPr>
          <a:xfrm>
            <a:off x="2708453" y="3414370"/>
            <a:ext cx="12006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3906317" y="3414370"/>
            <a:ext cx="18379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0"/>
          <p:cNvSpPr txBox="1"/>
          <p:nvPr/>
        </p:nvSpPr>
        <p:spPr>
          <a:xfrm>
            <a:off x="1200607" y="2628900"/>
            <a:ext cx="5815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Case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0"/>
          <p:cNvSpPr txBox="1"/>
          <p:nvPr/>
        </p:nvSpPr>
        <p:spPr>
          <a:xfrm>
            <a:off x="2040026" y="2628900"/>
            <a:ext cx="6007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('h',1,0)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 txBox="1"/>
          <p:nvPr/>
        </p:nvSpPr>
        <p:spPr>
          <a:xfrm>
            <a:off x="3120847" y="2628900"/>
            <a:ext cx="4956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 box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6395" y="263804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20"/>
          <p:cNvSpPr txBox="1"/>
          <p:nvPr/>
        </p:nvSpPr>
        <p:spPr>
          <a:xfrm>
            <a:off x="1200607" y="3095244"/>
            <a:ext cx="6099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Case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0"/>
          <p:cNvSpPr txBox="1"/>
          <p:nvPr/>
        </p:nvSpPr>
        <p:spPr>
          <a:xfrm>
            <a:off x="2018995" y="3095244"/>
            <a:ext cx="6483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('h',0,0)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0"/>
          <p:cNvSpPr txBox="1"/>
          <p:nvPr/>
        </p:nvSpPr>
        <p:spPr>
          <a:xfrm>
            <a:off x="3097987" y="3095244"/>
            <a:ext cx="5340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 box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0"/>
          <p:cNvSpPr txBox="1"/>
          <p:nvPr/>
        </p:nvSpPr>
        <p:spPr>
          <a:xfrm>
            <a:off x="4324198" y="2628900"/>
            <a:ext cx="13624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Ăn hộp trực tiếp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2" name="Google Shape;922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1162" y="31053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20"/>
          <p:cNvSpPr/>
          <p:nvPr/>
        </p:nvSpPr>
        <p:spPr>
          <a:xfrm>
            <a:off x="761695" y="4315054"/>
            <a:ext cx="5219395" cy="4334256"/>
          </a:xfrm>
          <a:prstGeom prst="roundRect">
            <a:avLst>
              <a:gd name="adj" fmla="val 556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0"/>
          <p:cNvSpPr/>
          <p:nvPr/>
        </p:nvSpPr>
        <p:spPr>
          <a:xfrm>
            <a:off x="761695" y="4315054"/>
            <a:ext cx="47549" cy="433425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20"/>
          <p:cNvSpPr/>
          <p:nvPr/>
        </p:nvSpPr>
        <p:spPr>
          <a:xfrm>
            <a:off x="1037844" y="4543654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0"/>
          <p:cNvSpPr txBox="1"/>
          <p:nvPr/>
        </p:nvSpPr>
        <p:spPr>
          <a:xfrm>
            <a:off x="1200607" y="3562502"/>
            <a:ext cx="6099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Case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0"/>
          <p:cNvSpPr txBox="1"/>
          <p:nvPr/>
        </p:nvSpPr>
        <p:spPr>
          <a:xfrm>
            <a:off x="2023567" y="3562502"/>
            <a:ext cx="6382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('h',0,2)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 txBox="1"/>
          <p:nvPr/>
        </p:nvSpPr>
        <p:spPr>
          <a:xfrm>
            <a:off x="3097987" y="3562502"/>
            <a:ext cx="5340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 box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0"/>
          <p:cNvSpPr txBox="1"/>
          <p:nvPr/>
        </p:nvSpPr>
        <p:spPr>
          <a:xfrm>
            <a:off x="4518965" y="3095244"/>
            <a:ext cx="9720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Bỏ lỡ 2 hộp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0" name="Google Shape;930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9606" y="357164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20"/>
          <p:cNvSpPr txBox="1"/>
          <p:nvPr/>
        </p:nvSpPr>
        <p:spPr>
          <a:xfrm>
            <a:off x="4406494" y="3562502"/>
            <a:ext cx="12006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Né bẫy 3 cạnh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2" name="Google Shape;932;p20" descr="preencoded.png"/>
          <p:cNvPicPr preferRelativeResize="0"/>
          <p:nvPr/>
        </p:nvPicPr>
        <p:blipFill rotWithShape="1">
          <a:blip r:embed="rId6">
            <a:alphaModFix/>
          </a:blip>
          <a:srcRect t="-841" b="-840"/>
          <a:stretch/>
        </p:blipFill>
        <p:spPr>
          <a:xfrm>
            <a:off x="1133856" y="4647895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20"/>
          <p:cNvSpPr txBox="1"/>
          <p:nvPr/>
        </p:nvSpPr>
        <p:spPr>
          <a:xfrm>
            <a:off x="1571854" y="4619549"/>
            <a:ext cx="18004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Mô phỏng Case 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0"/>
          <p:cNvSpPr/>
          <p:nvPr/>
        </p:nvSpPr>
        <p:spPr>
          <a:xfrm>
            <a:off x="2584094" y="6157570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0"/>
          <p:cNvSpPr/>
          <p:nvPr/>
        </p:nvSpPr>
        <p:spPr>
          <a:xfrm>
            <a:off x="3059582" y="6157570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0"/>
          <p:cNvSpPr/>
          <p:nvPr/>
        </p:nvSpPr>
        <p:spPr>
          <a:xfrm>
            <a:off x="3535985" y="6157570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0"/>
          <p:cNvSpPr/>
          <p:nvPr/>
        </p:nvSpPr>
        <p:spPr>
          <a:xfrm>
            <a:off x="4012387" y="6157570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0"/>
          <p:cNvSpPr/>
          <p:nvPr/>
        </p:nvSpPr>
        <p:spPr>
          <a:xfrm>
            <a:off x="2584094" y="6633972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20"/>
          <p:cNvSpPr/>
          <p:nvPr/>
        </p:nvSpPr>
        <p:spPr>
          <a:xfrm>
            <a:off x="3059582" y="6633972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0"/>
          <p:cNvSpPr/>
          <p:nvPr/>
        </p:nvSpPr>
        <p:spPr>
          <a:xfrm>
            <a:off x="3535985" y="6633972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0"/>
          <p:cNvSpPr/>
          <p:nvPr/>
        </p:nvSpPr>
        <p:spPr>
          <a:xfrm>
            <a:off x="4012387" y="6633972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0"/>
          <p:cNvSpPr/>
          <p:nvPr/>
        </p:nvSpPr>
        <p:spPr>
          <a:xfrm>
            <a:off x="2584094" y="7110374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20"/>
          <p:cNvSpPr/>
          <p:nvPr/>
        </p:nvSpPr>
        <p:spPr>
          <a:xfrm>
            <a:off x="3059582" y="7110374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20"/>
          <p:cNvSpPr/>
          <p:nvPr/>
        </p:nvSpPr>
        <p:spPr>
          <a:xfrm>
            <a:off x="3535985" y="7110374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20"/>
          <p:cNvSpPr/>
          <p:nvPr/>
        </p:nvSpPr>
        <p:spPr>
          <a:xfrm>
            <a:off x="4012387" y="7110374"/>
            <a:ext cx="190195" cy="190195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20"/>
          <p:cNvSpPr/>
          <p:nvPr/>
        </p:nvSpPr>
        <p:spPr>
          <a:xfrm>
            <a:off x="2155241" y="5872277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0"/>
          <p:cNvSpPr/>
          <p:nvPr/>
        </p:nvSpPr>
        <p:spPr>
          <a:xfrm>
            <a:off x="2631643" y="5872277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0"/>
          <p:cNvSpPr/>
          <p:nvPr/>
        </p:nvSpPr>
        <p:spPr>
          <a:xfrm>
            <a:off x="3107131" y="5872277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20"/>
          <p:cNvSpPr/>
          <p:nvPr/>
        </p:nvSpPr>
        <p:spPr>
          <a:xfrm>
            <a:off x="2155241" y="6348679"/>
            <a:ext cx="286207" cy="2834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0"/>
          <p:cNvSpPr/>
          <p:nvPr/>
        </p:nvSpPr>
        <p:spPr>
          <a:xfrm>
            <a:off x="2631643" y="6348679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0"/>
          <p:cNvSpPr/>
          <p:nvPr/>
        </p:nvSpPr>
        <p:spPr>
          <a:xfrm>
            <a:off x="3107131" y="6348679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0"/>
          <p:cNvSpPr/>
          <p:nvPr/>
        </p:nvSpPr>
        <p:spPr>
          <a:xfrm>
            <a:off x="2155241" y="6825082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20"/>
          <p:cNvSpPr/>
          <p:nvPr/>
        </p:nvSpPr>
        <p:spPr>
          <a:xfrm>
            <a:off x="2631643" y="6825082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0"/>
          <p:cNvSpPr/>
          <p:nvPr/>
        </p:nvSpPr>
        <p:spPr>
          <a:xfrm>
            <a:off x="3107131" y="6825082"/>
            <a:ext cx="286207" cy="2834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0"/>
          <p:cNvSpPr/>
          <p:nvPr/>
        </p:nvSpPr>
        <p:spPr>
          <a:xfrm>
            <a:off x="2060143" y="5872277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0"/>
          <p:cNvSpPr/>
          <p:nvPr/>
        </p:nvSpPr>
        <p:spPr>
          <a:xfrm>
            <a:off x="2060143" y="6348679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0"/>
          <p:cNvSpPr/>
          <p:nvPr/>
        </p:nvSpPr>
        <p:spPr>
          <a:xfrm>
            <a:off x="2535631" y="5872277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0"/>
          <p:cNvSpPr/>
          <p:nvPr/>
        </p:nvSpPr>
        <p:spPr>
          <a:xfrm>
            <a:off x="2535631" y="6348679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20"/>
          <p:cNvSpPr/>
          <p:nvPr/>
        </p:nvSpPr>
        <p:spPr>
          <a:xfrm>
            <a:off x="3012034" y="5872277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0"/>
          <p:cNvSpPr/>
          <p:nvPr/>
        </p:nvSpPr>
        <p:spPr>
          <a:xfrm>
            <a:off x="3012034" y="6348679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0"/>
          <p:cNvSpPr/>
          <p:nvPr/>
        </p:nvSpPr>
        <p:spPr>
          <a:xfrm>
            <a:off x="3488436" y="5872277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0"/>
          <p:cNvSpPr/>
          <p:nvPr/>
        </p:nvSpPr>
        <p:spPr>
          <a:xfrm>
            <a:off x="3488436" y="6348679"/>
            <a:ext cx="28346" cy="47640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20"/>
          <p:cNvSpPr/>
          <p:nvPr/>
        </p:nvSpPr>
        <p:spPr>
          <a:xfrm>
            <a:off x="2088490" y="5900623"/>
            <a:ext cx="476402" cy="476402"/>
          </a:xfrm>
          <a:prstGeom prst="roundRect">
            <a:avLst>
              <a:gd name="adj" fmla="val 11516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4" name="Google Shape;964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96482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20"/>
          <p:cNvSpPr/>
          <p:nvPr/>
        </p:nvSpPr>
        <p:spPr>
          <a:xfrm>
            <a:off x="6215177" y="4229100"/>
            <a:ext cx="5219395" cy="4419295"/>
          </a:xfrm>
          <a:prstGeom prst="roundRect">
            <a:avLst>
              <a:gd name="adj" fmla="val 535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0"/>
          <p:cNvSpPr/>
          <p:nvPr/>
        </p:nvSpPr>
        <p:spPr>
          <a:xfrm>
            <a:off x="6215177" y="4229100"/>
            <a:ext cx="47549" cy="441929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0"/>
          <p:cNvSpPr/>
          <p:nvPr/>
        </p:nvSpPr>
        <p:spPr>
          <a:xfrm>
            <a:off x="6491326" y="4457700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0"/>
          <p:cNvSpPr txBox="1"/>
          <p:nvPr/>
        </p:nvSpPr>
        <p:spPr>
          <a:xfrm>
            <a:off x="7024421" y="4533595"/>
            <a:ext cx="10771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Giải thích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0"/>
          <p:cNvSpPr/>
          <p:nvPr/>
        </p:nvSpPr>
        <p:spPr>
          <a:xfrm>
            <a:off x="6500470" y="2486254"/>
            <a:ext cx="4695444" cy="476402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0"/>
          <p:cNvSpPr/>
          <p:nvPr/>
        </p:nvSpPr>
        <p:spPr>
          <a:xfrm>
            <a:off x="6500470" y="2957170"/>
            <a:ext cx="4695444" cy="466344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0"/>
          <p:cNvSpPr/>
          <p:nvPr/>
        </p:nvSpPr>
        <p:spPr>
          <a:xfrm>
            <a:off x="6500470" y="2953512"/>
            <a:ext cx="181965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20"/>
          <p:cNvSpPr/>
          <p:nvPr/>
        </p:nvSpPr>
        <p:spPr>
          <a:xfrm>
            <a:off x="8312810" y="2953512"/>
            <a:ext cx="161940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0"/>
          <p:cNvSpPr/>
          <p:nvPr/>
        </p:nvSpPr>
        <p:spPr>
          <a:xfrm>
            <a:off x="9930384" y="2953512"/>
            <a:ext cx="126644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0"/>
          <p:cNvSpPr txBox="1"/>
          <p:nvPr/>
        </p:nvSpPr>
        <p:spPr>
          <a:xfrm>
            <a:off x="6653174" y="2628900"/>
            <a:ext cx="7525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3×3 dots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0"/>
          <p:cNvSpPr txBox="1"/>
          <p:nvPr/>
        </p:nvSpPr>
        <p:spPr>
          <a:xfrm>
            <a:off x="8926373" y="2628900"/>
            <a:ext cx="5148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0.65s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0"/>
          <p:cNvSpPr txBox="1"/>
          <p:nvPr/>
        </p:nvSpPr>
        <p:spPr>
          <a:xfrm>
            <a:off x="10378440" y="2628900"/>
            <a:ext cx="4864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~50k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0"/>
          <p:cNvSpPr txBox="1"/>
          <p:nvPr/>
        </p:nvSpPr>
        <p:spPr>
          <a:xfrm>
            <a:off x="6653174" y="3095244"/>
            <a:ext cx="7717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3×4 dots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0"/>
          <p:cNvSpPr txBox="1"/>
          <p:nvPr/>
        </p:nvSpPr>
        <p:spPr>
          <a:xfrm>
            <a:off x="8934602" y="3095244"/>
            <a:ext cx="4956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5.35s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0"/>
          <p:cNvSpPr txBox="1"/>
          <p:nvPr/>
        </p:nvSpPr>
        <p:spPr>
          <a:xfrm>
            <a:off x="10328148" y="3095244"/>
            <a:ext cx="5815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~485k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0" name="Google Shape;980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1326" y="3610051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0"/>
          <p:cNvSpPr txBox="1"/>
          <p:nvPr/>
        </p:nvSpPr>
        <p:spPr>
          <a:xfrm>
            <a:off x="6776618" y="3600907"/>
            <a:ext cx="28867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Move Ordering giúp giảm ~11% node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2" name="Google Shape;982;p20" descr="preencoded.png"/>
          <p:cNvPicPr preferRelativeResize="0"/>
          <p:nvPr/>
        </p:nvPicPr>
        <p:blipFill rotWithShape="1">
          <a:blip r:embed="rId9">
            <a:alphaModFix/>
          </a:blip>
          <a:srcRect l="-1773" r="-1773"/>
          <a:stretch/>
        </p:blipFill>
        <p:spPr>
          <a:xfrm>
            <a:off x="6614770" y="4562856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20"/>
          <p:cNvSpPr/>
          <p:nvPr/>
        </p:nvSpPr>
        <p:spPr>
          <a:xfrm>
            <a:off x="7024421" y="4990795"/>
            <a:ext cx="228600" cy="228600"/>
          </a:xfrm>
          <a:prstGeom prst="ellipse">
            <a:avLst/>
          </a:prstGeom>
          <a:solidFill>
            <a:srgbClr val="EF4444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4" name="Google Shape;984;p20" descr="preencoded.png"/>
          <p:cNvPicPr preferRelativeResize="0"/>
          <p:nvPr/>
        </p:nvPicPr>
        <p:blipFill rotWithShape="1">
          <a:blip r:embed="rId10">
            <a:alphaModFix/>
          </a:blip>
          <a:srcRect l="-133" r="-133"/>
          <a:stretch/>
        </p:blipFill>
        <p:spPr>
          <a:xfrm>
            <a:off x="7095744" y="5048402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20"/>
          <p:cNvSpPr/>
          <p:nvPr/>
        </p:nvSpPr>
        <p:spPr>
          <a:xfrm>
            <a:off x="7024421" y="5810098"/>
            <a:ext cx="228600" cy="228600"/>
          </a:xfrm>
          <a:prstGeom prst="ellipse">
            <a:avLst/>
          </a:prstGeom>
          <a:solidFill>
            <a:srgbClr val="EF4444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0"/>
          <p:cNvSpPr txBox="1"/>
          <p:nvPr/>
        </p:nvSpPr>
        <p:spPr>
          <a:xfrm>
            <a:off x="7367321" y="5009998"/>
            <a:ext cx="19531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Thiếu tactical extension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0"/>
          <p:cNvSpPr txBox="1"/>
          <p:nvPr/>
        </p:nvSpPr>
        <p:spPr>
          <a:xfrm>
            <a:off x="7367321" y="5266944"/>
            <a:ext cx="3796589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Bỏ lỡ các cơ hội ăn kép (double-move) hoặc chuỗi nước liên tiếp.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8" name="Google Shape;988;p20" descr="preencoded.png"/>
          <p:cNvPicPr preferRelativeResize="0"/>
          <p:nvPr/>
        </p:nvPicPr>
        <p:blipFill rotWithShape="1">
          <a:blip r:embed="rId10">
            <a:alphaModFix/>
          </a:blip>
          <a:srcRect l="-133" r="-133"/>
          <a:stretch/>
        </p:blipFill>
        <p:spPr>
          <a:xfrm>
            <a:off x="7095744" y="5867705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20"/>
          <p:cNvSpPr txBox="1"/>
          <p:nvPr/>
        </p:nvSpPr>
        <p:spPr>
          <a:xfrm>
            <a:off x="7367321" y="5829300"/>
            <a:ext cx="258135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Không dùng transposition table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0"/>
          <p:cNvSpPr txBox="1"/>
          <p:nvPr/>
        </p:nvSpPr>
        <p:spPr>
          <a:xfrm>
            <a:off x="7367321" y="6086246"/>
            <a:ext cx="3796589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Dẫn đến việc lặp lại việc tính toán cho các trạng thái đã xuất hiện.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1" name="Google Shape;991;p20" descr="preencoded.png"/>
          <p:cNvPicPr preferRelativeResize="0"/>
          <p:nvPr/>
        </p:nvPicPr>
        <p:blipFill rotWithShape="1">
          <a:blip r:embed="rId11">
            <a:alphaModFix/>
          </a:blip>
          <a:srcRect l="-115" r="-114"/>
          <a:stretch/>
        </p:blipFill>
        <p:spPr>
          <a:xfrm>
            <a:off x="7024421" y="6705295"/>
            <a:ext cx="4181551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20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0"/>
          <p:cNvSpPr/>
          <p:nvPr/>
        </p:nvSpPr>
        <p:spPr>
          <a:xfrm>
            <a:off x="0" y="88870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0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0"/>
          <p:cNvSpPr/>
          <p:nvPr/>
        </p:nvSpPr>
        <p:spPr>
          <a:xfrm>
            <a:off x="381305" y="7886700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1"/>
          <p:cNvSpPr/>
          <p:nvPr/>
        </p:nvSpPr>
        <p:spPr>
          <a:xfrm>
            <a:off x="0" y="0"/>
            <a:ext cx="12191695" cy="8086954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1"/>
          <p:cNvSpPr txBox="1"/>
          <p:nvPr/>
        </p:nvSpPr>
        <p:spPr>
          <a:xfrm>
            <a:off x="761695" y="428854"/>
            <a:ext cx="10682935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19 – HEURISTIC ALPHA–BETA (DOTS AND BOXES)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1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1"/>
          <p:cNvSpPr/>
          <p:nvPr/>
        </p:nvSpPr>
        <p:spPr>
          <a:xfrm>
            <a:off x="761695" y="1285646"/>
            <a:ext cx="5219395" cy="2400300"/>
          </a:xfrm>
          <a:prstGeom prst="roundRect">
            <a:avLst>
              <a:gd name="adj" fmla="val 1814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1"/>
          <p:cNvSpPr/>
          <p:nvPr/>
        </p:nvSpPr>
        <p:spPr>
          <a:xfrm>
            <a:off x="761695" y="1285646"/>
            <a:ext cx="47549" cy="2400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1"/>
          <p:cNvSpPr/>
          <p:nvPr/>
        </p:nvSpPr>
        <p:spPr>
          <a:xfrm>
            <a:off x="1037844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7" name="Google Shape;100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21"/>
          <p:cNvSpPr/>
          <p:nvPr/>
        </p:nvSpPr>
        <p:spPr>
          <a:xfrm>
            <a:off x="761695" y="3877056"/>
            <a:ext cx="5219395" cy="3829507"/>
          </a:xfrm>
          <a:prstGeom prst="roundRect">
            <a:avLst>
              <a:gd name="adj" fmla="val 71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21"/>
          <p:cNvSpPr/>
          <p:nvPr/>
        </p:nvSpPr>
        <p:spPr>
          <a:xfrm>
            <a:off x="761695" y="3877056"/>
            <a:ext cx="47549" cy="3829507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21"/>
          <p:cNvSpPr/>
          <p:nvPr/>
        </p:nvSpPr>
        <p:spPr>
          <a:xfrm>
            <a:off x="1037844" y="410565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21"/>
          <p:cNvSpPr txBox="1"/>
          <p:nvPr/>
        </p:nvSpPr>
        <p:spPr>
          <a:xfrm>
            <a:off x="1571854" y="1591056"/>
            <a:ext cx="2448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Hàm đánh giá heuristic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1"/>
          <p:cNvSpPr txBox="1"/>
          <p:nvPr/>
        </p:nvSpPr>
        <p:spPr>
          <a:xfrm>
            <a:off x="1571854" y="4181551"/>
            <a:ext cx="10387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Nhận xét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1"/>
          <p:cNvSpPr txBox="1"/>
          <p:nvPr/>
        </p:nvSpPr>
        <p:spPr>
          <a:xfrm>
            <a:off x="1571854" y="2029054"/>
            <a:ext cx="27532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Hàm đánh giá dựa trên các yếu tố: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4" name="Google Shape;1014;p21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714500" y="236189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21"/>
          <p:cNvSpPr txBox="1"/>
          <p:nvPr/>
        </p:nvSpPr>
        <p:spPr>
          <a:xfrm>
            <a:off x="1923898" y="2333549"/>
            <a:ext cx="15435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Số hộp đã ăn được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6" name="Google Shape;1016;p21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714500" y="266730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21"/>
          <p:cNvSpPr txBox="1"/>
          <p:nvPr/>
        </p:nvSpPr>
        <p:spPr>
          <a:xfrm>
            <a:off x="1923898" y="2638044"/>
            <a:ext cx="16578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Số ô có 3 cạnh đã vẽ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8" name="Google Shape;1018;p21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714500" y="2971800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21"/>
          <p:cNvSpPr txBox="1"/>
          <p:nvPr/>
        </p:nvSpPr>
        <p:spPr>
          <a:xfrm>
            <a:off x="7024421" y="1591056"/>
            <a:ext cx="21058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Kết quả benchmark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1"/>
          <p:cNvSpPr txBox="1"/>
          <p:nvPr/>
        </p:nvSpPr>
        <p:spPr>
          <a:xfrm>
            <a:off x="1923898" y="2943454"/>
            <a:ext cx="16294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Các nước đi an toàn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1" name="Google Shape;1021;p21" descr="preencoded.png"/>
          <p:cNvPicPr preferRelativeResize="0"/>
          <p:nvPr/>
        </p:nvPicPr>
        <p:blipFill rotWithShape="1">
          <a:blip r:embed="rId4">
            <a:alphaModFix/>
          </a:blip>
          <a:srcRect t="-1100" b="-1100"/>
          <a:stretch/>
        </p:blipFill>
        <p:spPr>
          <a:xfrm>
            <a:off x="1714500" y="3276295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21"/>
          <p:cNvSpPr/>
          <p:nvPr/>
        </p:nvSpPr>
        <p:spPr>
          <a:xfrm>
            <a:off x="6215177" y="1285646"/>
            <a:ext cx="5219395" cy="2876702"/>
          </a:xfrm>
          <a:prstGeom prst="roundRect">
            <a:avLst>
              <a:gd name="adj" fmla="val 1263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21"/>
          <p:cNvSpPr/>
          <p:nvPr/>
        </p:nvSpPr>
        <p:spPr>
          <a:xfrm>
            <a:off x="6215177" y="1285646"/>
            <a:ext cx="47549" cy="287670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21"/>
          <p:cNvSpPr/>
          <p:nvPr/>
        </p:nvSpPr>
        <p:spPr>
          <a:xfrm>
            <a:off x="6491326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1"/>
          <p:cNvSpPr txBox="1"/>
          <p:nvPr/>
        </p:nvSpPr>
        <p:spPr>
          <a:xfrm>
            <a:off x="1923898" y="3247949"/>
            <a:ext cx="18672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Ưu tiên vị trí trung tâm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Google Shape;1026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4209898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1854" y="4619549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21"/>
          <p:cNvSpPr/>
          <p:nvPr/>
        </p:nvSpPr>
        <p:spPr>
          <a:xfrm>
            <a:off x="6215177" y="4352544"/>
            <a:ext cx="5219395" cy="3353105"/>
          </a:xfrm>
          <a:prstGeom prst="roundRect">
            <a:avLst>
              <a:gd name="adj" fmla="val 930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1"/>
          <p:cNvSpPr/>
          <p:nvPr/>
        </p:nvSpPr>
        <p:spPr>
          <a:xfrm>
            <a:off x="6215177" y="4352544"/>
            <a:ext cx="47549" cy="33531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1"/>
          <p:cNvSpPr/>
          <p:nvPr/>
        </p:nvSpPr>
        <p:spPr>
          <a:xfrm>
            <a:off x="6491326" y="2048256"/>
            <a:ext cx="4714646" cy="1886407"/>
          </a:xfrm>
          <a:prstGeom prst="roundRect">
            <a:avLst>
              <a:gd name="adj" fmla="val 195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21"/>
          <p:cNvSpPr/>
          <p:nvPr/>
        </p:nvSpPr>
        <p:spPr>
          <a:xfrm>
            <a:off x="6491326" y="4581144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21"/>
          <p:cNvSpPr txBox="1"/>
          <p:nvPr/>
        </p:nvSpPr>
        <p:spPr>
          <a:xfrm>
            <a:off x="7024421" y="4657954"/>
            <a:ext cx="21433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Phân tích hiệu năng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1"/>
          <p:cNvSpPr txBox="1"/>
          <p:nvPr/>
        </p:nvSpPr>
        <p:spPr>
          <a:xfrm>
            <a:off x="1857146" y="4619549"/>
            <a:ext cx="3791102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Số nút duyệt tăng phi tuyến khi tăng kích thước bàn cờ.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4" name="Google Shape;1034;p21" descr="preencoded.png"/>
          <p:cNvPicPr preferRelativeResize="0"/>
          <p:nvPr/>
        </p:nvPicPr>
        <p:blipFill rotWithShape="1">
          <a:blip r:embed="rId7">
            <a:alphaModFix/>
          </a:blip>
          <a:srcRect t="-841" b="-840"/>
          <a:stretch/>
        </p:blipFill>
        <p:spPr>
          <a:xfrm>
            <a:off x="1571854" y="5229454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21"/>
          <p:cNvSpPr txBox="1"/>
          <p:nvPr/>
        </p:nvSpPr>
        <p:spPr>
          <a:xfrm>
            <a:off x="1876349" y="5229454"/>
            <a:ext cx="3820363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Move ordering "capture-first" giúp giảm đáng kể thời gian xử lý.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6" name="Google Shape;1036;p21" descr="preencoded.png"/>
          <p:cNvPicPr preferRelativeResize="0"/>
          <p:nvPr/>
        </p:nvPicPr>
        <p:blipFill rotWithShape="1">
          <a:blip r:embed="rId8">
            <a:alphaModFix/>
          </a:blip>
          <a:srcRect l="-1773" r="-1773"/>
          <a:stretch/>
        </p:blipFill>
        <p:spPr>
          <a:xfrm>
            <a:off x="1571854" y="5838444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21"/>
          <p:cNvSpPr txBox="1"/>
          <p:nvPr/>
        </p:nvSpPr>
        <p:spPr>
          <a:xfrm>
            <a:off x="1819656" y="5838444"/>
            <a:ext cx="40105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Hiệu suất vẫn đủ tốt cho bảng kích thước vừa phải.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8" name="Google Shape;1038;p2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96482" y="161940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21"/>
          <p:cNvSpPr/>
          <p:nvPr/>
        </p:nvSpPr>
        <p:spPr>
          <a:xfrm>
            <a:off x="6500470" y="2057400"/>
            <a:ext cx="4695444" cy="46634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1"/>
          <p:cNvSpPr/>
          <p:nvPr/>
        </p:nvSpPr>
        <p:spPr>
          <a:xfrm>
            <a:off x="6500470" y="2504542"/>
            <a:ext cx="1981505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21"/>
          <p:cNvSpPr/>
          <p:nvPr/>
        </p:nvSpPr>
        <p:spPr>
          <a:xfrm>
            <a:off x="8478317" y="2504542"/>
            <a:ext cx="1552651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21"/>
          <p:cNvSpPr/>
          <p:nvPr/>
        </p:nvSpPr>
        <p:spPr>
          <a:xfrm>
            <a:off x="10029139" y="2504542"/>
            <a:ext cx="1171346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1"/>
          <p:cNvSpPr txBox="1"/>
          <p:nvPr/>
        </p:nvSpPr>
        <p:spPr>
          <a:xfrm>
            <a:off x="6653174" y="2190902"/>
            <a:ext cx="14200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Kích thước bảng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1"/>
          <p:cNvSpPr txBox="1"/>
          <p:nvPr/>
        </p:nvSpPr>
        <p:spPr>
          <a:xfrm>
            <a:off x="8776411" y="2190902"/>
            <a:ext cx="1077163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Thời gian (s)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1"/>
          <p:cNvSpPr txBox="1"/>
          <p:nvPr/>
        </p:nvSpPr>
        <p:spPr>
          <a:xfrm>
            <a:off x="10291572" y="2190902"/>
            <a:ext cx="7626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Số node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1"/>
          <p:cNvSpPr/>
          <p:nvPr/>
        </p:nvSpPr>
        <p:spPr>
          <a:xfrm>
            <a:off x="6500470" y="2523744"/>
            <a:ext cx="4695444" cy="476402"/>
          </a:xfrm>
          <a:prstGeom prst="rect">
            <a:avLst/>
          </a:prstGeom>
          <a:solidFill>
            <a:srgbClr val="0EA5E9">
              <a:alpha val="4705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1"/>
          <p:cNvSpPr/>
          <p:nvPr/>
        </p:nvSpPr>
        <p:spPr>
          <a:xfrm>
            <a:off x="6500470" y="2991002"/>
            <a:ext cx="19815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8" name="Google Shape;1048;p2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53174" y="268650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21"/>
          <p:cNvSpPr/>
          <p:nvPr/>
        </p:nvSpPr>
        <p:spPr>
          <a:xfrm>
            <a:off x="6500470" y="2995574"/>
            <a:ext cx="4695444" cy="466344"/>
          </a:xfrm>
          <a:prstGeom prst="rect">
            <a:avLst/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21"/>
          <p:cNvSpPr/>
          <p:nvPr/>
        </p:nvSpPr>
        <p:spPr>
          <a:xfrm>
            <a:off x="6500470" y="3461918"/>
            <a:ext cx="4695444" cy="466344"/>
          </a:xfrm>
          <a:prstGeom prst="rect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21"/>
          <p:cNvSpPr/>
          <p:nvPr/>
        </p:nvSpPr>
        <p:spPr>
          <a:xfrm>
            <a:off x="8478317" y="2991002"/>
            <a:ext cx="15526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21"/>
          <p:cNvSpPr/>
          <p:nvPr/>
        </p:nvSpPr>
        <p:spPr>
          <a:xfrm>
            <a:off x="10029139" y="2991002"/>
            <a:ext cx="11713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1"/>
          <p:cNvSpPr/>
          <p:nvPr/>
        </p:nvSpPr>
        <p:spPr>
          <a:xfrm>
            <a:off x="6500470" y="3452774"/>
            <a:ext cx="19815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1"/>
          <p:cNvSpPr/>
          <p:nvPr/>
        </p:nvSpPr>
        <p:spPr>
          <a:xfrm>
            <a:off x="8478317" y="3452774"/>
            <a:ext cx="1552651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1"/>
          <p:cNvSpPr/>
          <p:nvPr/>
        </p:nvSpPr>
        <p:spPr>
          <a:xfrm>
            <a:off x="10029139" y="3452774"/>
            <a:ext cx="1171346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21"/>
          <p:cNvSpPr txBox="1"/>
          <p:nvPr/>
        </p:nvSpPr>
        <p:spPr>
          <a:xfrm>
            <a:off x="6900977" y="2667305"/>
            <a:ext cx="7818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4×4 dots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1"/>
          <p:cNvSpPr txBox="1"/>
          <p:nvPr/>
        </p:nvSpPr>
        <p:spPr>
          <a:xfrm>
            <a:off x="9121140" y="2667305"/>
            <a:ext cx="3813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1.33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1"/>
          <p:cNvSpPr txBox="1"/>
          <p:nvPr/>
        </p:nvSpPr>
        <p:spPr>
          <a:xfrm>
            <a:off x="10381183" y="2667305"/>
            <a:ext cx="5815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34,219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9" name="Google Shape;1059;p2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53174" y="315285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21"/>
          <p:cNvSpPr txBox="1"/>
          <p:nvPr/>
        </p:nvSpPr>
        <p:spPr>
          <a:xfrm>
            <a:off x="6900977" y="3133649"/>
            <a:ext cx="7717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4×5 dots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1"/>
          <p:cNvSpPr txBox="1"/>
          <p:nvPr/>
        </p:nvSpPr>
        <p:spPr>
          <a:xfrm>
            <a:off x="6881774" y="3600907"/>
            <a:ext cx="7717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4×6 dots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21"/>
          <p:cNvSpPr txBox="1"/>
          <p:nvPr/>
        </p:nvSpPr>
        <p:spPr>
          <a:xfrm>
            <a:off x="9114739" y="3133649"/>
            <a:ext cx="400507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6.71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1"/>
          <p:cNvSpPr txBox="1"/>
          <p:nvPr/>
        </p:nvSpPr>
        <p:spPr>
          <a:xfrm>
            <a:off x="10339121" y="3133649"/>
            <a:ext cx="6574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107,505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4" name="Google Shape;1064;p21" descr="preencoded.png"/>
          <p:cNvPicPr preferRelativeResize="0"/>
          <p:nvPr/>
        </p:nvPicPr>
        <p:blipFill rotWithShape="1">
          <a:blip r:embed="rId12">
            <a:alphaModFix/>
          </a:blip>
          <a:srcRect t="-43" b="-42"/>
          <a:stretch/>
        </p:blipFill>
        <p:spPr>
          <a:xfrm>
            <a:off x="6653174" y="361919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21"/>
          <p:cNvSpPr txBox="1"/>
          <p:nvPr/>
        </p:nvSpPr>
        <p:spPr>
          <a:xfrm>
            <a:off x="9098280" y="3600907"/>
            <a:ext cx="428854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9.97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1"/>
          <p:cNvSpPr txBox="1"/>
          <p:nvPr/>
        </p:nvSpPr>
        <p:spPr>
          <a:xfrm>
            <a:off x="10329977" y="3600907"/>
            <a:ext cx="6766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179,948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7" name="Google Shape;1067;p2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96482" y="4686300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21" descr="preencoded.png"/>
          <p:cNvPicPr preferRelativeResize="0"/>
          <p:nvPr/>
        </p:nvPicPr>
        <p:blipFill rotWithShape="1">
          <a:blip r:embed="rId14">
            <a:alphaModFix/>
          </a:blip>
          <a:srcRect t="-97" b="-97"/>
          <a:stretch/>
        </p:blipFill>
        <p:spPr>
          <a:xfrm>
            <a:off x="6491326" y="5115154"/>
            <a:ext cx="4714646" cy="2361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21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1"/>
          <p:cNvSpPr/>
          <p:nvPr/>
        </p:nvSpPr>
        <p:spPr>
          <a:xfrm>
            <a:off x="0" y="7936992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1"/>
          <p:cNvSpPr/>
          <p:nvPr/>
        </p:nvSpPr>
        <p:spPr>
          <a:xfrm>
            <a:off x="10858500" y="190195"/>
            <a:ext cx="1143000" cy="11430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1"/>
          <p:cNvSpPr/>
          <p:nvPr/>
        </p:nvSpPr>
        <p:spPr>
          <a:xfrm>
            <a:off x="381305" y="6936638"/>
            <a:ext cx="761695" cy="76169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22"/>
          <p:cNvSpPr/>
          <p:nvPr/>
        </p:nvSpPr>
        <p:spPr>
          <a:xfrm>
            <a:off x="0" y="0"/>
            <a:ext cx="12191695" cy="752459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2"/>
          <p:cNvSpPr/>
          <p:nvPr/>
        </p:nvSpPr>
        <p:spPr>
          <a:xfrm>
            <a:off x="761695" y="1285646"/>
            <a:ext cx="10668305" cy="2885846"/>
          </a:xfrm>
          <a:prstGeom prst="roundRect">
            <a:avLst>
              <a:gd name="adj" fmla="val 1255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2"/>
          <p:cNvSpPr txBox="1"/>
          <p:nvPr/>
        </p:nvSpPr>
        <p:spPr>
          <a:xfrm>
            <a:off x="761695" y="428854"/>
            <a:ext cx="6701638" cy="44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2800"/>
              <a:buFont typeface="Montserrat"/>
              <a:buNone/>
            </a:pPr>
            <a:r>
              <a:rPr lang="en-US" sz="28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SLIDE 20 – KẾT LUẬN TỔNG QUAN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2"/>
          <p:cNvSpPr/>
          <p:nvPr/>
        </p:nvSpPr>
        <p:spPr>
          <a:xfrm>
            <a:off x="761695" y="1019556"/>
            <a:ext cx="1524305" cy="384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2"/>
          <p:cNvSpPr/>
          <p:nvPr/>
        </p:nvSpPr>
        <p:spPr>
          <a:xfrm>
            <a:off x="990295" y="1514246"/>
            <a:ext cx="381305" cy="381305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3" name="Google Shape;1083;p22" descr="preencoded.png"/>
          <p:cNvPicPr preferRelativeResize="0"/>
          <p:nvPr/>
        </p:nvPicPr>
        <p:blipFill rotWithShape="1">
          <a:blip r:embed="rId3">
            <a:alphaModFix/>
          </a:blip>
          <a:srcRect l="-1064" r="-1064"/>
          <a:stretch/>
        </p:blipFill>
        <p:spPr>
          <a:xfrm>
            <a:off x="1071677" y="1619402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22"/>
          <p:cNvSpPr/>
          <p:nvPr/>
        </p:nvSpPr>
        <p:spPr>
          <a:xfrm>
            <a:off x="990295" y="2048256"/>
            <a:ext cx="10211105" cy="1895551"/>
          </a:xfrm>
          <a:prstGeom prst="roundRect">
            <a:avLst>
              <a:gd name="adj" fmla="val 1939"/>
            </a:avLst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2"/>
          <p:cNvSpPr/>
          <p:nvPr/>
        </p:nvSpPr>
        <p:spPr>
          <a:xfrm>
            <a:off x="761695" y="4401007"/>
            <a:ext cx="5219395" cy="2743200"/>
          </a:xfrm>
          <a:prstGeom prst="roundRect">
            <a:avLst>
              <a:gd name="adj" fmla="val 1389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22"/>
          <p:cNvSpPr/>
          <p:nvPr/>
        </p:nvSpPr>
        <p:spPr>
          <a:xfrm>
            <a:off x="761695" y="4401007"/>
            <a:ext cx="47549" cy="2743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22"/>
          <p:cNvSpPr txBox="1"/>
          <p:nvPr/>
        </p:nvSpPr>
        <p:spPr>
          <a:xfrm>
            <a:off x="1524305" y="1576426"/>
            <a:ext cx="213878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600"/>
              <a:buFont typeface="Montserrat"/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Agent và đánh giá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2"/>
          <p:cNvSpPr/>
          <p:nvPr/>
        </p:nvSpPr>
        <p:spPr>
          <a:xfrm>
            <a:off x="1000354" y="2057400"/>
            <a:ext cx="10191902" cy="4855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22"/>
          <p:cNvSpPr txBox="1"/>
          <p:nvPr/>
        </p:nvSpPr>
        <p:spPr>
          <a:xfrm>
            <a:off x="1152144" y="2190902"/>
            <a:ext cx="1100938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Thuật toán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2"/>
          <p:cNvSpPr txBox="1"/>
          <p:nvPr/>
        </p:nvSpPr>
        <p:spPr>
          <a:xfrm>
            <a:off x="3700577" y="2190902"/>
            <a:ext cx="89062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Ưu điểm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2"/>
          <p:cNvSpPr txBox="1"/>
          <p:nvPr/>
        </p:nvSpPr>
        <p:spPr>
          <a:xfrm>
            <a:off x="7522769" y="2190902"/>
            <a:ext cx="862279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ontserrat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Hạn chế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2"/>
          <p:cNvSpPr/>
          <p:nvPr/>
        </p:nvSpPr>
        <p:spPr>
          <a:xfrm>
            <a:off x="1000354" y="2542946"/>
            <a:ext cx="10191902" cy="466344"/>
          </a:xfrm>
          <a:prstGeom prst="rect">
            <a:avLst/>
          </a:prstGeom>
          <a:solidFill>
            <a:srgbClr val="F1F5F9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22"/>
          <p:cNvSpPr/>
          <p:nvPr/>
        </p:nvSpPr>
        <p:spPr>
          <a:xfrm>
            <a:off x="1000354" y="3000146"/>
            <a:ext cx="25530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4" name="Google Shape;1094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144" y="269565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22"/>
          <p:cNvSpPr/>
          <p:nvPr/>
        </p:nvSpPr>
        <p:spPr>
          <a:xfrm>
            <a:off x="1000354" y="3004718"/>
            <a:ext cx="10191902" cy="466344"/>
          </a:xfrm>
          <a:prstGeom prst="rect">
            <a:avLst/>
          </a:prstGeom>
          <a:solidFill>
            <a:srgbClr val="F1F5F9">
              <a:alpha val="2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2"/>
          <p:cNvSpPr/>
          <p:nvPr/>
        </p:nvSpPr>
        <p:spPr>
          <a:xfrm>
            <a:off x="1000354" y="3471977"/>
            <a:ext cx="10191902" cy="466344"/>
          </a:xfrm>
          <a:prstGeom prst="rect">
            <a:avLst/>
          </a:prstGeom>
          <a:solidFill>
            <a:srgbClr val="F1F5F9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2"/>
          <p:cNvSpPr/>
          <p:nvPr/>
        </p:nvSpPr>
        <p:spPr>
          <a:xfrm>
            <a:off x="3547872" y="3000146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2"/>
          <p:cNvSpPr/>
          <p:nvPr/>
        </p:nvSpPr>
        <p:spPr>
          <a:xfrm>
            <a:off x="7370064" y="3000146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2"/>
          <p:cNvSpPr/>
          <p:nvPr/>
        </p:nvSpPr>
        <p:spPr>
          <a:xfrm>
            <a:off x="1000354" y="3461918"/>
            <a:ext cx="255300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22"/>
          <p:cNvSpPr/>
          <p:nvPr/>
        </p:nvSpPr>
        <p:spPr>
          <a:xfrm>
            <a:off x="3547872" y="3461918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22"/>
          <p:cNvSpPr/>
          <p:nvPr/>
        </p:nvSpPr>
        <p:spPr>
          <a:xfrm>
            <a:off x="7370064" y="3461918"/>
            <a:ext cx="3829507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2"/>
          <p:cNvSpPr txBox="1"/>
          <p:nvPr/>
        </p:nvSpPr>
        <p:spPr>
          <a:xfrm>
            <a:off x="1380744" y="2676449"/>
            <a:ext cx="7909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Random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2"/>
          <p:cNvSpPr txBox="1"/>
          <p:nvPr/>
        </p:nvSpPr>
        <p:spPr>
          <a:xfrm>
            <a:off x="3700577" y="2676449"/>
            <a:ext cx="829361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Kiểm thử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2"/>
          <p:cNvSpPr txBox="1"/>
          <p:nvPr/>
        </p:nvSpPr>
        <p:spPr>
          <a:xfrm>
            <a:off x="7522769" y="2676449"/>
            <a:ext cx="14676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Không chiến lược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5" name="Google Shape;1105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144" y="31619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22"/>
          <p:cNvSpPr txBox="1"/>
          <p:nvPr/>
        </p:nvSpPr>
        <p:spPr>
          <a:xfrm>
            <a:off x="1380744" y="3143707"/>
            <a:ext cx="12390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Minimax + α–β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2"/>
          <p:cNvSpPr txBox="1"/>
          <p:nvPr/>
        </p:nvSpPr>
        <p:spPr>
          <a:xfrm>
            <a:off x="3700577" y="3143707"/>
            <a:ext cx="15910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Chính xác tuyệt đối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2"/>
          <p:cNvSpPr txBox="1"/>
          <p:nvPr/>
        </p:nvSpPr>
        <p:spPr>
          <a:xfrm>
            <a:off x="7522769" y="3143707"/>
            <a:ext cx="156271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Chậm với bảng lớn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9" name="Google Shape;1109;p22" descr="preencoded.png"/>
          <p:cNvPicPr preferRelativeResize="0"/>
          <p:nvPr/>
        </p:nvPicPr>
        <p:blipFill rotWithShape="1">
          <a:blip r:embed="rId6">
            <a:alphaModFix/>
          </a:blip>
          <a:srcRect t="-100" b="-100"/>
          <a:stretch/>
        </p:blipFill>
        <p:spPr>
          <a:xfrm>
            <a:off x="1152144" y="3629254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22"/>
          <p:cNvSpPr txBox="1"/>
          <p:nvPr/>
        </p:nvSpPr>
        <p:spPr>
          <a:xfrm>
            <a:off x="1343254" y="3610051"/>
            <a:ext cx="11338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Heuristic α–β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2"/>
          <p:cNvSpPr txBox="1"/>
          <p:nvPr/>
        </p:nvSpPr>
        <p:spPr>
          <a:xfrm>
            <a:off x="3700577" y="3610051"/>
            <a:ext cx="3076956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Hiệu quả, mô phỏng tư duy người chơi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2"/>
          <p:cNvSpPr txBox="1"/>
          <p:nvPr/>
        </p:nvSpPr>
        <p:spPr>
          <a:xfrm>
            <a:off x="7522769" y="3610051"/>
            <a:ext cx="1943100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Cần tinh chỉnh heuristic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2"/>
          <p:cNvSpPr/>
          <p:nvPr/>
        </p:nvSpPr>
        <p:spPr>
          <a:xfrm>
            <a:off x="1037844" y="4629607"/>
            <a:ext cx="342900" cy="3429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4" name="Google Shape;1114;p22" descr="preencoded.png"/>
          <p:cNvPicPr preferRelativeResize="0"/>
          <p:nvPr/>
        </p:nvPicPr>
        <p:blipFill rotWithShape="1">
          <a:blip r:embed="rId7">
            <a:alphaModFix/>
          </a:blip>
          <a:srcRect t="-100" b="-100"/>
          <a:stretch/>
        </p:blipFill>
        <p:spPr>
          <a:xfrm>
            <a:off x="1152144" y="4724705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22"/>
          <p:cNvSpPr txBox="1"/>
          <p:nvPr/>
        </p:nvSpPr>
        <p:spPr>
          <a:xfrm>
            <a:off x="1495044" y="4686300"/>
            <a:ext cx="17053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Tổng kết chung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6" name="Google Shape;1116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044" y="51627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22"/>
          <p:cNvSpPr txBox="1"/>
          <p:nvPr/>
        </p:nvSpPr>
        <p:spPr>
          <a:xfrm>
            <a:off x="1742846" y="5143500"/>
            <a:ext cx="3610051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Adversarial Search = nền tảng cho trò chơi đối kháng.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8" name="Google Shape;1118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044" y="57342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22"/>
          <p:cNvSpPr/>
          <p:nvPr/>
        </p:nvSpPr>
        <p:spPr>
          <a:xfrm>
            <a:off x="6210605" y="4401007"/>
            <a:ext cx="5219395" cy="2743200"/>
          </a:xfrm>
          <a:prstGeom prst="roundRect">
            <a:avLst>
              <a:gd name="adj" fmla="val 1389"/>
            </a:avLst>
          </a:prstGeom>
          <a:solidFill>
            <a:srgbClr val="FFFFFF">
              <a:alpha val="80000"/>
            </a:srgbClr>
          </a:solidFill>
          <a:ln>
            <a:noFill/>
          </a:ln>
          <a:effectLst>
            <a:outerShdw blurRad="63500" dist="38100" dir="54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22"/>
          <p:cNvSpPr/>
          <p:nvPr/>
        </p:nvSpPr>
        <p:spPr>
          <a:xfrm>
            <a:off x="6210605" y="4401007"/>
            <a:ext cx="47549" cy="2743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2"/>
          <p:cNvSpPr txBox="1"/>
          <p:nvPr/>
        </p:nvSpPr>
        <p:spPr>
          <a:xfrm>
            <a:off x="1742846" y="5715000"/>
            <a:ext cx="398221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Alpha–Beta Pruning giúp tăng hiệu năng vượt trội.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2" name="Google Shape;1122;p2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5044" y="60771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22"/>
          <p:cNvSpPr/>
          <p:nvPr/>
        </p:nvSpPr>
        <p:spPr>
          <a:xfrm>
            <a:off x="6486754" y="4629607"/>
            <a:ext cx="342900" cy="3429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2"/>
          <p:cNvSpPr/>
          <p:nvPr/>
        </p:nvSpPr>
        <p:spPr>
          <a:xfrm>
            <a:off x="8413394" y="5124298"/>
            <a:ext cx="1324051" cy="1790395"/>
          </a:xfrm>
          <a:prstGeom prst="roundRect">
            <a:avLst>
              <a:gd name="adj" fmla="val 3975"/>
            </a:avLst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2"/>
          <p:cNvSpPr/>
          <p:nvPr/>
        </p:nvSpPr>
        <p:spPr>
          <a:xfrm>
            <a:off x="9883750" y="5124298"/>
            <a:ext cx="1324051" cy="1790395"/>
          </a:xfrm>
          <a:prstGeom prst="roundRect">
            <a:avLst>
              <a:gd name="adj" fmla="val 3975"/>
            </a:avLst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22"/>
          <p:cNvSpPr txBox="1"/>
          <p:nvPr/>
        </p:nvSpPr>
        <p:spPr>
          <a:xfrm>
            <a:off x="1742846" y="6057900"/>
            <a:ext cx="3905402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Heuristic giúp AI mô phỏng chiến lược con người.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2"/>
          <p:cNvSpPr txBox="1"/>
          <p:nvPr/>
        </p:nvSpPr>
        <p:spPr>
          <a:xfrm>
            <a:off x="8668512" y="5848502"/>
            <a:ext cx="924458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Mean Connect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2"/>
          <p:cNvSpPr txBox="1"/>
          <p:nvPr/>
        </p:nvSpPr>
        <p:spPr>
          <a:xfrm>
            <a:off x="8655710" y="6334049"/>
            <a:ext cx="939089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+ Steal Move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2"/>
          <p:cNvSpPr txBox="1"/>
          <p:nvPr/>
        </p:nvSpPr>
        <p:spPr>
          <a:xfrm>
            <a:off x="10186416" y="5848502"/>
            <a:ext cx="829361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Dots and Boxes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2"/>
          <p:cNvSpPr txBox="1"/>
          <p:nvPr/>
        </p:nvSpPr>
        <p:spPr>
          <a:xfrm>
            <a:off x="10092233" y="6334049"/>
            <a:ext cx="1004926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R×C dots grid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2"/>
          <p:cNvSpPr/>
          <p:nvPr/>
        </p:nvSpPr>
        <p:spPr>
          <a:xfrm>
            <a:off x="1495044" y="6458407"/>
            <a:ext cx="209398" cy="286207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2" name="Google Shape;1132;p22" descr="preencoded.png"/>
          <p:cNvPicPr preferRelativeResize="0"/>
          <p:nvPr/>
        </p:nvPicPr>
        <p:blipFill rotWithShape="1">
          <a:blip r:embed="rId9">
            <a:alphaModFix/>
          </a:blip>
          <a:srcRect l="-837" r="-837"/>
          <a:stretch/>
        </p:blipFill>
        <p:spPr>
          <a:xfrm>
            <a:off x="1522476" y="6534302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22"/>
          <p:cNvSpPr txBox="1"/>
          <p:nvPr/>
        </p:nvSpPr>
        <p:spPr>
          <a:xfrm>
            <a:off x="1796796" y="6476695"/>
            <a:ext cx="3877056" cy="409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C4A6E"/>
                </a:solidFill>
                <a:latin typeface="Montserrat"/>
                <a:ea typeface="Montserrat"/>
                <a:cs typeface="Montserrat"/>
                <a:sym typeface="Montserrat"/>
              </a:rPr>
              <a:t>Kết hợp các kỹ thuật này là chìa khóa tạo Agent "thông minh thực tế".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4" name="Google Shape;1134;p2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851" y="472470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22"/>
          <p:cNvSpPr/>
          <p:nvPr/>
        </p:nvSpPr>
        <p:spPr>
          <a:xfrm>
            <a:off x="6943954" y="5124298"/>
            <a:ext cx="1324051" cy="1790395"/>
          </a:xfrm>
          <a:prstGeom prst="roundRect">
            <a:avLst>
              <a:gd name="adj" fmla="val 3975"/>
            </a:avLst>
          </a:prstGeom>
          <a:solidFill>
            <a:srgbClr val="0EA5E9">
              <a:alpha val="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22"/>
          <p:cNvSpPr txBox="1"/>
          <p:nvPr/>
        </p:nvSpPr>
        <p:spPr>
          <a:xfrm>
            <a:off x="6943954" y="4686300"/>
            <a:ext cx="27916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500"/>
              <a:buFont typeface="Montserrat"/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Các trò chơi đã nghiên cứu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2"/>
          <p:cNvSpPr txBox="1"/>
          <p:nvPr/>
        </p:nvSpPr>
        <p:spPr>
          <a:xfrm>
            <a:off x="7198157" y="5848502"/>
            <a:ext cx="924458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200"/>
              <a:buFont typeface="Montserrat"/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Connect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2"/>
          <p:cNvSpPr txBox="1"/>
          <p:nvPr/>
        </p:nvSpPr>
        <p:spPr>
          <a:xfrm>
            <a:off x="7331659" y="6105449"/>
            <a:ext cx="643738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Montserrat"/>
              <a:buNone/>
            </a:pPr>
            <a:r>
              <a:rPr lang="en-US" sz="10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6×7 grid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2"/>
          <p:cNvSpPr/>
          <p:nvPr/>
        </p:nvSpPr>
        <p:spPr>
          <a:xfrm>
            <a:off x="7364578" y="5277002"/>
            <a:ext cx="476402" cy="47640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" dist="254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0" name="Google Shape;1140;p2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88022" y="54004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22"/>
          <p:cNvSpPr/>
          <p:nvPr/>
        </p:nvSpPr>
        <p:spPr>
          <a:xfrm>
            <a:off x="8834018" y="5277002"/>
            <a:ext cx="476402" cy="47640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" dist="254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2" name="Google Shape;1142;p22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58377" y="54004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22"/>
          <p:cNvSpPr/>
          <p:nvPr/>
        </p:nvSpPr>
        <p:spPr>
          <a:xfrm>
            <a:off x="10304374" y="5277002"/>
            <a:ext cx="476402" cy="47640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" dist="25400" dir="54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4" name="Google Shape;1144;p22" descr="preencoded.png"/>
          <p:cNvPicPr preferRelativeResize="0"/>
          <p:nvPr/>
        </p:nvPicPr>
        <p:blipFill rotWithShape="1">
          <a:blip r:embed="rId13">
            <a:alphaModFix/>
          </a:blip>
          <a:srcRect l="-56" r="-57"/>
          <a:stretch/>
        </p:blipFill>
        <p:spPr>
          <a:xfrm>
            <a:off x="10442448" y="5400446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22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2"/>
          <p:cNvSpPr/>
          <p:nvPr/>
        </p:nvSpPr>
        <p:spPr>
          <a:xfrm>
            <a:off x="0" y="7381951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2"/>
          <p:cNvSpPr/>
          <p:nvPr/>
        </p:nvSpPr>
        <p:spPr>
          <a:xfrm>
            <a:off x="10953598" y="286207"/>
            <a:ext cx="952805" cy="952805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2"/>
          <p:cNvSpPr/>
          <p:nvPr/>
        </p:nvSpPr>
        <p:spPr>
          <a:xfrm>
            <a:off x="476402" y="6381598"/>
            <a:ext cx="666598" cy="666598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3"/>
          <p:cNvSpPr/>
          <p:nvPr/>
        </p:nvSpPr>
        <p:spPr>
          <a:xfrm>
            <a:off x="5619902" y="725119"/>
            <a:ext cx="952805" cy="4754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3"/>
          <p:cNvSpPr txBox="1"/>
          <p:nvPr/>
        </p:nvSpPr>
        <p:spPr>
          <a:xfrm>
            <a:off x="5095037" y="1743761"/>
            <a:ext cx="2352751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3600"/>
              <a:buFont typeface="Montserrat"/>
              <a:buNone/>
            </a:pPr>
            <a:r>
              <a:rPr lang="en-US" sz="3600" b="1" i="0" u="none" strike="noStrike" cap="none">
                <a:solidFill>
                  <a:srgbClr val="0369A1"/>
                </a:solidFill>
                <a:latin typeface="Montserrat"/>
                <a:ea typeface="Montserrat"/>
                <a:cs typeface="Montserrat"/>
                <a:sym typeface="Montserrat"/>
              </a:rPr>
              <a:t>CẢM ƠN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3"/>
          <p:cNvSpPr txBox="1"/>
          <p:nvPr/>
        </p:nvSpPr>
        <p:spPr>
          <a:xfrm>
            <a:off x="3578962" y="2696566"/>
            <a:ext cx="5239512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Montserrat"/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Cảm ơn thầy và các bạn đã lắng nghe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3"/>
          <p:cNvSpPr txBox="1"/>
          <p:nvPr/>
        </p:nvSpPr>
        <p:spPr>
          <a:xfrm>
            <a:off x="4592117" y="5542178"/>
            <a:ext cx="3124505" cy="181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Montserrat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Lab 04: Games with Search Uncertainty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3"/>
          <p:cNvSpPr/>
          <p:nvPr/>
        </p:nvSpPr>
        <p:spPr>
          <a:xfrm>
            <a:off x="4953305" y="3456432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0" name="Google Shape;1160;p23" descr="preencoded.png"/>
          <p:cNvPicPr preferRelativeResize="0"/>
          <p:nvPr/>
        </p:nvPicPr>
        <p:blipFill rotWithShape="1">
          <a:blip r:embed="rId3">
            <a:alphaModFix/>
          </a:blip>
          <a:srcRect l="-80" r="-80"/>
          <a:stretch/>
        </p:blipFill>
        <p:spPr>
          <a:xfrm>
            <a:off x="5095951" y="362833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23"/>
          <p:cNvSpPr txBox="1"/>
          <p:nvPr/>
        </p:nvSpPr>
        <p:spPr>
          <a:xfrm>
            <a:off x="4103827" y="5190134"/>
            <a:ext cx="4120286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Montserrat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Nhóm 11 – Khoa CNTT, Trường Đại học Sài Gòn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3"/>
          <p:cNvSpPr/>
          <p:nvPr/>
        </p:nvSpPr>
        <p:spPr>
          <a:xfrm>
            <a:off x="5810098" y="3456432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3" name="Google Shape;1163;p23" descr="preencoded.png"/>
          <p:cNvPicPr preferRelativeResize="0"/>
          <p:nvPr/>
        </p:nvPicPr>
        <p:blipFill rotWithShape="1">
          <a:blip r:embed="rId4">
            <a:alphaModFix/>
          </a:blip>
          <a:srcRect l="-133" r="-133"/>
          <a:stretch/>
        </p:blipFill>
        <p:spPr>
          <a:xfrm>
            <a:off x="6010351" y="362833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23"/>
          <p:cNvSpPr/>
          <p:nvPr/>
        </p:nvSpPr>
        <p:spPr>
          <a:xfrm>
            <a:off x="6667805" y="3456432"/>
            <a:ext cx="571500" cy="571500"/>
          </a:xfrm>
          <a:prstGeom prst="ellipse">
            <a:avLst/>
          </a:prstGeom>
          <a:solidFill>
            <a:srgbClr val="0EA5E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5" name="Google Shape;1165;p23" descr="preencoded.png"/>
          <p:cNvPicPr preferRelativeResize="0"/>
          <p:nvPr/>
        </p:nvPicPr>
        <p:blipFill rotWithShape="1">
          <a:blip r:embed="rId5">
            <a:alphaModFix/>
          </a:blip>
          <a:srcRect l="-80" r="-80"/>
          <a:stretch/>
        </p:blipFill>
        <p:spPr>
          <a:xfrm>
            <a:off x="6810451" y="362833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23"/>
          <p:cNvSpPr/>
          <p:nvPr/>
        </p:nvSpPr>
        <p:spPr>
          <a:xfrm>
            <a:off x="0" y="0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23"/>
          <p:cNvSpPr/>
          <p:nvPr/>
        </p:nvSpPr>
        <p:spPr>
          <a:xfrm>
            <a:off x="0" y="6715354"/>
            <a:ext cx="12191695" cy="14264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23"/>
          <p:cNvSpPr/>
          <p:nvPr/>
        </p:nvSpPr>
        <p:spPr>
          <a:xfrm>
            <a:off x="1143000" y="571500"/>
            <a:ext cx="1714500" cy="1714500"/>
          </a:xfrm>
          <a:prstGeom prst="ellipse">
            <a:avLst/>
          </a:prstGeom>
          <a:noFill/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3"/>
          <p:cNvSpPr/>
          <p:nvPr/>
        </p:nvSpPr>
        <p:spPr>
          <a:xfrm>
            <a:off x="8762695" y="4000500"/>
            <a:ext cx="2095805" cy="2095805"/>
          </a:xfrm>
          <a:prstGeom prst="ellipse">
            <a:avLst/>
          </a:prstGeom>
          <a:noFill/>
          <a:ln w="508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3"/>
          <p:cNvSpPr/>
          <p:nvPr/>
        </p:nvSpPr>
        <p:spPr>
          <a:xfrm>
            <a:off x="9334195" y="1714500"/>
            <a:ext cx="1143000" cy="1143000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23"/>
          <p:cNvSpPr/>
          <p:nvPr/>
        </p:nvSpPr>
        <p:spPr>
          <a:xfrm>
            <a:off x="1904695" y="4572000"/>
            <a:ext cx="952805" cy="952805"/>
          </a:xfrm>
          <a:prstGeom prst="ellipse">
            <a:avLst/>
          </a:prstGeom>
          <a:noFill/>
          <a:ln w="254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2210</Words>
  <Application>Microsoft Office PowerPoint</Application>
  <PresentationFormat>Widescreen</PresentationFormat>
  <Paragraphs>388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Montserrat</vt:lpstr>
      <vt:lpstr>Roboto</vt:lpstr>
      <vt:lpstr>Courier 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Nam Phạm</dc:creator>
  <cp:lastModifiedBy>Nam Phạm</cp:lastModifiedBy>
  <cp:revision>2</cp:revision>
  <dcterms:modified xsi:type="dcterms:W3CDTF">2025-10-25T16:48:21Z</dcterms:modified>
</cp:coreProperties>
</file>