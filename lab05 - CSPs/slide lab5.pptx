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78" y="10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491533" y="323698"/>
            <a:ext cx="3404311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SÀI GÒN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708246" y="750722"/>
            <a:ext cx="29306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CÔNG NGHỆ THÔNG TIN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963363" y="5069434"/>
            <a:ext cx="238201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Open Sans"/>
              <a:buNone/>
            </a:pPr>
            <a:r>
              <a:rPr lang="en-US" sz="1200" b="0" i="1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TP. Hồ Chí Minh, Tháng 10/2025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287000" y="685800"/>
            <a:ext cx="2857500" cy="2857500"/>
          </a:xfrm>
          <a:prstGeom prst="ellipse">
            <a:avLst/>
          </a:prstGeom>
          <a:solidFill>
            <a:srgbClr val="DBEAFE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476402" y="2440534"/>
            <a:ext cx="1904695" cy="1904695"/>
          </a:xfrm>
          <a:prstGeom prst="ellipse">
            <a:avLst/>
          </a:prstGeom>
          <a:solidFill>
            <a:srgbClr val="BFDB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099109" y="1419149"/>
            <a:ext cx="10344607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3600"/>
              <a:buFont typeface="Roboto"/>
              <a:buNone/>
            </a:pPr>
            <a:r>
              <a:rPr lang="en-US" sz="36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Lab 5 – Constraint Satisfaction Problems (CSPs)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47388" y="2361895"/>
            <a:ext cx="38770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Môn học: Trí tuệ Nhân tạo Nâng Cao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5068519" y="2723998"/>
            <a:ext cx="2183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Open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Giảng viên: TS. Đỗ Như Tài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5691226" y="3375965"/>
            <a:ext cx="968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Nhóm 11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119226" y="3787445"/>
            <a:ext cx="2381098" cy="657454"/>
          </a:xfrm>
          <a:prstGeom prst="roundRect">
            <a:avLst>
              <a:gd name="adj" fmla="val 16125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642970" y="3787445"/>
            <a:ext cx="2381098" cy="657454"/>
          </a:xfrm>
          <a:prstGeom prst="roundRect">
            <a:avLst>
              <a:gd name="adj" fmla="val 16125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167628" y="3787445"/>
            <a:ext cx="2381098" cy="657454"/>
          </a:xfrm>
          <a:prstGeom prst="roundRect">
            <a:avLst>
              <a:gd name="adj" fmla="val 16125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691372" y="3787445"/>
            <a:ext cx="2381098" cy="657454"/>
          </a:xfrm>
          <a:prstGeom prst="roundRect">
            <a:avLst>
              <a:gd name="adj" fmla="val 16125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1741018" y="3891686"/>
            <a:ext cx="12573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Phạm Văn Nam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3889858" y="3891686"/>
            <a:ext cx="2009851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Nguyễn Quan Tuấn Nghĩa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6907378" y="3891686"/>
            <a:ext cx="101955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Tạ Hồng Quí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9312250" y="3891686"/>
            <a:ext cx="12573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Vũ Quốc Vương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917497" y="4149547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3122410251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4442155" y="4149547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3122410260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6965899" y="4149547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3122410348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490558" y="4149547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3120410629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191902" y="381305"/>
            <a:ext cx="1429207" cy="1429207"/>
          </a:xfrm>
          <a:prstGeom prst="ellipse">
            <a:avLst/>
          </a:prstGeom>
          <a:solidFill>
            <a:srgbClr val="3B82F6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61695" y="5238598"/>
            <a:ext cx="952805" cy="952805"/>
          </a:xfrm>
          <a:prstGeom prst="ellipse">
            <a:avLst/>
          </a:prstGeom>
          <a:solidFill>
            <a:srgbClr val="3B82F6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5487314" y="371246"/>
            <a:ext cx="1476756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700"/>
              <a:buFont typeface="Roboto"/>
              <a:buNone/>
            </a:pPr>
            <a:r>
              <a:rPr lang="en-US" sz="27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Mục lục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1500" y="1143000"/>
            <a:ext cx="5381244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 cap="flat" cmpd="sng">
            <a:solidFill>
              <a:srgbClr val="E6F0F9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238951" y="1143000"/>
            <a:ext cx="5381244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 cap="flat" cmpd="sng">
            <a:solidFill>
              <a:srgbClr val="E6F0F9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238951" y="1971446"/>
            <a:ext cx="5381244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 cap="flat" cmpd="sng">
            <a:solidFill>
              <a:srgbClr val="E6F0F9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71500" y="3086100"/>
            <a:ext cx="5381244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 cap="flat" cmpd="sng">
            <a:solidFill>
              <a:srgbClr val="E6F0F9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80644" y="1152144"/>
            <a:ext cx="666598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848563" y="1266444"/>
            <a:ext cx="3054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248156" y="1152144"/>
            <a:ext cx="666598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4" descr="preencoded.png"/>
          <p:cNvPicPr preferRelativeResize="0"/>
          <p:nvPr/>
        </p:nvPicPr>
        <p:blipFill rotWithShape="1">
          <a:blip r:embed="rId3">
            <a:alphaModFix/>
          </a:blip>
          <a:srcRect t="-333" b="-332"/>
          <a:stretch/>
        </p:blipFill>
        <p:spPr>
          <a:xfrm>
            <a:off x="1410005" y="1300277"/>
            <a:ext cx="342900" cy="2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571500" y="1971446"/>
            <a:ext cx="5381244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 cap="flat" cmpd="sng">
            <a:solidFill>
              <a:srgbClr val="E6F0F9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248095" y="1152144"/>
            <a:ext cx="666598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80644" y="1981505"/>
            <a:ext cx="666598" cy="85770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80644" y="3095244"/>
            <a:ext cx="666598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516014" y="1266444"/>
            <a:ext cx="3054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848563" y="2238451"/>
            <a:ext cx="3054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15607" y="1152144"/>
            <a:ext cx="666598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2104949" y="1324051"/>
            <a:ext cx="13624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Giới thiệu CSP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0374" y="1300277"/>
            <a:ext cx="276149" cy="2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1248156" y="1981505"/>
            <a:ext cx="666598" cy="857707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7772400" y="1324051"/>
            <a:ext cx="35817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Ví dụ: Graph Coloring bằng Backtracking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2923" y="2271370"/>
            <a:ext cx="276149" cy="2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6248095" y="1981505"/>
            <a:ext cx="666598" cy="85770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6516014" y="2238451"/>
            <a:ext cx="3054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48563" y="3209544"/>
            <a:ext cx="3054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915607" y="1981505"/>
            <a:ext cx="666598" cy="857707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248156" y="3095244"/>
            <a:ext cx="666598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2104949" y="2152498"/>
            <a:ext cx="3610051" cy="51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Phần 1 – Tối ưu hàm xung đột N-Queens (Numba JIT)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0374" y="2271370"/>
            <a:ext cx="276149" cy="2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7772400" y="2152498"/>
            <a:ext cx="3410712" cy="51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Phần 2 – So sánh các thuật toán Local Search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2923" y="3243377"/>
            <a:ext cx="276149" cy="2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2104949" y="3267151"/>
            <a:ext cx="29818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Tổng kết – Đánh giá – Phân công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9193378" y="6471209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381305" y="323698"/>
            <a:ext cx="2110435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900"/>
              <a:buFont typeface="Roboto"/>
              <a:buNone/>
            </a:pPr>
            <a:r>
              <a:rPr lang="en-US" sz="19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Giới thiệu về CSP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81305" y="923544"/>
            <a:ext cx="6687007" cy="685800"/>
          </a:xfrm>
          <a:prstGeom prst="roundRect">
            <a:avLst>
              <a:gd name="adj" fmla="val 18519"/>
            </a:avLst>
          </a:prstGeom>
          <a:solidFill>
            <a:srgbClr val="F1F5F9"/>
          </a:solidFill>
          <a:ln>
            <a:noFill/>
          </a:ln>
          <a:effectLst>
            <a:outerShdw blurRad="635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3">
            <a:alphaModFix/>
          </a:blip>
          <a:srcRect l="-2512" r="-2512"/>
          <a:stretch/>
        </p:blipFill>
        <p:spPr>
          <a:xfrm>
            <a:off x="495605" y="1078992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599846" y="1047902"/>
            <a:ext cx="2717597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100"/>
              <a:buFont typeface="Open Sans"/>
              <a:buNone/>
            </a:pPr>
            <a:r>
              <a:rPr lang="en-US" sz="1100" b="1" i="0" u="none" strike="noStrike" cap="none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CSP = Constraint Satisfaction Problem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495605" y="1309421"/>
            <a:ext cx="306506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Bài toán tìm giá trị thỏa mãn các ràng buộc trong AI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81305" y="1772107"/>
            <a:ext cx="146944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Gồm các thành phần: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81305" y="3433572"/>
            <a:ext cx="1117397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Ví dụ ứng dụng: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381305" y="2042770"/>
            <a:ext cx="23527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Tập biến (Variables): x₁, x₂, …, xₙ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381305" y="2367382"/>
            <a:ext cx="26106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Miền giá trị (Domains): D₁, D₂, …, Dₙ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381305" y="2691079"/>
            <a:ext cx="24670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Ràng buộc (Constraints): C₁, C₂, …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81305" y="3062326"/>
            <a:ext cx="6687007" cy="352044"/>
          </a:xfrm>
          <a:prstGeom prst="roundRect">
            <a:avLst>
              <a:gd name="adj" fmla="val 42120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81305" y="3062326"/>
            <a:ext cx="38405" cy="3520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533095" y="3148279"/>
            <a:ext cx="314827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Mục tiêu: Tìm bộ giá trị thỏa tất cả các ràng buộc.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81305" y="3705149"/>
            <a:ext cx="1209751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5" descr="preencoded.png"/>
          <p:cNvPicPr preferRelativeResize="0"/>
          <p:nvPr/>
        </p:nvPicPr>
        <p:blipFill rotWithShape="1">
          <a:blip r:embed="rId4">
            <a:alphaModFix/>
          </a:blip>
          <a:srcRect l="-1358" r="-1357"/>
          <a:stretch/>
        </p:blipFill>
        <p:spPr>
          <a:xfrm>
            <a:off x="476402" y="3792931"/>
            <a:ext cx="142646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678838" y="3705149"/>
            <a:ext cx="752551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619049" y="3762756"/>
            <a:ext cx="9692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Tô màu bản đồ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4850" y="3792931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2523744" y="3705149"/>
            <a:ext cx="743407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1898294" y="3762756"/>
            <a:ext cx="53126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Sudoku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 descr="preencoded.png"/>
          <p:cNvPicPr preferRelativeResize="0"/>
          <p:nvPr/>
        </p:nvPicPr>
        <p:blipFill rotWithShape="1">
          <a:blip r:embed="rId6">
            <a:alphaModFix/>
          </a:blip>
          <a:srcRect t="-1359" b="-1358"/>
          <a:stretch/>
        </p:blipFill>
        <p:spPr>
          <a:xfrm>
            <a:off x="2618842" y="3792931"/>
            <a:ext cx="105156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3354019" y="3705149"/>
            <a:ext cx="895198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2723998" y="3762756"/>
            <a:ext cx="54132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Lập lịch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49117" y="3792931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3572561" y="3762756"/>
            <a:ext cx="6739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N-Queens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353605" y="1085393"/>
            <a:ext cx="4457700" cy="2980944"/>
          </a:xfrm>
          <a:prstGeom prst="roundRect">
            <a:avLst>
              <a:gd name="adj" fmla="val 980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635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5" descr="preencoded.png"/>
          <p:cNvPicPr preferRelativeResize="0"/>
          <p:nvPr/>
        </p:nvPicPr>
        <p:blipFill rotWithShape="1">
          <a:blip r:embed="rId8">
            <a:alphaModFix/>
          </a:blip>
          <a:srcRect l="61" r="62"/>
          <a:stretch/>
        </p:blipFill>
        <p:spPr>
          <a:xfrm>
            <a:off x="7362749" y="1094537"/>
            <a:ext cx="4438498" cy="296265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381305" y="4481474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1541557" y="4481474"/>
            <a:ext cx="3739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286207" y="276149"/>
            <a:ext cx="23628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Ví dụ: Graph Coloring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86207" y="800100"/>
            <a:ext cx="6829654" cy="676656"/>
          </a:xfrm>
          <a:prstGeom prst="roundRect">
            <a:avLst>
              <a:gd name="adj" fmla="val 15226"/>
            </a:avLst>
          </a:prstGeom>
          <a:solidFill>
            <a:srgbClr val="F1F5F9"/>
          </a:solidFill>
          <a:ln>
            <a:noFill/>
          </a:ln>
          <a:effectLst>
            <a:outerShdw blurRad="635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07" y="952805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523951" y="923544"/>
            <a:ext cx="66202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Mục tiêu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00507" y="1171346"/>
            <a:ext cx="35414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Tô màu các đỉnh sao cho hai đỉnh kề nhau không cùng màu.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286207" y="1604772"/>
            <a:ext cx="47914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286207" y="2257654"/>
            <a:ext cx="84124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Thuật toán: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86207" y="1876349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8100" dist="25400" dir="5400000" algn="bl" rotWithShape="0">
              <a:srgbClr val="3B82F6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56" y="19238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513332" y="1876349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8100" dist="25400" dir="5400000" algn="bl" rotWithShape="0">
              <a:srgbClr val="3B82F6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29107" y="1907438"/>
            <a:ext cx="83667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 đỉnh (0–9)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 descr="preencoded.png"/>
          <p:cNvPicPr preferRelativeResize="0"/>
          <p:nvPr/>
        </p:nvPicPr>
        <p:blipFill rotWithShape="1">
          <a:blip r:embed="rId5">
            <a:alphaModFix/>
          </a:blip>
          <a:srcRect l="-33" r="-32"/>
          <a:stretch/>
        </p:blipFill>
        <p:spPr>
          <a:xfrm>
            <a:off x="1550822" y="1923898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1856232" y="1907438"/>
            <a:ext cx="220827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Danh sách kề {0: [1,4,5], 1: [0,2,6], ...}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86207" y="2529230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8100" dist="25400" dir="5400000" algn="bl" rotWithShape="0">
              <a:srgbClr val="3B82F6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6" descr="preencoded.png"/>
          <p:cNvPicPr preferRelativeResize="0"/>
          <p:nvPr/>
        </p:nvPicPr>
        <p:blipFill rotWithShape="1">
          <a:blip r:embed="rId6">
            <a:alphaModFix/>
          </a:blip>
          <a:srcRect t="-43" b="-42"/>
          <a:stretch/>
        </p:blipFill>
        <p:spPr>
          <a:xfrm>
            <a:off x="342900" y="2576779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629107" y="2559406"/>
            <a:ext cx="436077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Duyệt từng đỉnh → Gán màu → Kiểm tra ràng buộc → Vi phạm thì quay lui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86207" y="2890418"/>
            <a:ext cx="6829654" cy="342900"/>
          </a:xfrm>
          <a:prstGeom prst="roundRect">
            <a:avLst>
              <a:gd name="adj" fmla="val 44444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286207" y="2890418"/>
            <a:ext cx="38405" cy="342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437998" y="2967228"/>
            <a:ext cx="46268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Kỹ thuật: Backtracking Search - tìm kiếm có hệ thống qua không gian trạng thái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353605" y="800100"/>
            <a:ext cx="4552798" cy="3047695"/>
          </a:xfrm>
          <a:prstGeom prst="roundRect">
            <a:avLst>
              <a:gd name="adj" fmla="val 93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635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286207" y="4069994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636654" y="4069994"/>
            <a:ext cx="3739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4/16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66C73-A89F-3A78-5232-3254DBCF80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068" y="501205"/>
            <a:ext cx="4532988" cy="3399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571500" y="381305"/>
            <a:ext cx="3195828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Kết quả Graph Coloring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571500" y="1123798"/>
            <a:ext cx="8485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Kết quả: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571500" y="2286000"/>
            <a:ext cx="7717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Nhận xét: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71500" y="1485900"/>
            <a:ext cx="14676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Số màu cần: 4 màu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71500" y="1848002"/>
            <a:ext cx="58485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Màu từng đỉnh: {0: đỏ, 1: xanh dương, 2: xanh dương, 3: đỏ, 4: xanh lá, 5: cam, ...}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71500" y="2609698"/>
            <a:ext cx="57634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Backtracking tìm nghiệm đúng nhưng mở rộng kém với không gian tìm kiếm lớn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71500" y="2971800"/>
            <a:ext cx="42867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Có thể cải tiến bằng: Constraint propagation Heuristic MRV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71500" y="3343046"/>
            <a:ext cx="6400800" cy="68580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71500" y="3343046"/>
            <a:ext cx="3840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761695" y="3467405"/>
            <a:ext cx="612465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Kết luận: Với đồ thị phức tạp hơn cần áp dụng các kỹ thuật tối ưu để giảm không gian tìm kiếm.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53605" y="1654150"/>
            <a:ext cx="4267505" cy="2018995"/>
          </a:xfrm>
          <a:prstGeom prst="roundRect">
            <a:avLst>
              <a:gd name="adj" fmla="val 2564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90500" dist="762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571500" y="4562856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1334902" y="4562856"/>
            <a:ext cx="38862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5/16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32685-210B-7BA5-BC2A-758881287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245" y="595257"/>
            <a:ext cx="4833509" cy="33110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381305" y="276149"/>
            <a:ext cx="3386938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900"/>
              <a:buFont typeface="Roboto"/>
              <a:buNone/>
            </a:pPr>
            <a:r>
              <a:rPr lang="en-US" sz="19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Giới thiệu bài toán N-Queens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81305" y="857707"/>
            <a:ext cx="6687007" cy="647395"/>
          </a:xfrm>
          <a:prstGeom prst="roundRect">
            <a:avLst>
              <a:gd name="adj" fmla="val 16617"/>
            </a:avLst>
          </a:prstGeom>
          <a:solidFill>
            <a:srgbClr val="F1F5F9"/>
          </a:solidFill>
          <a:ln>
            <a:noFill/>
          </a:ln>
          <a:effectLst>
            <a:outerShdw blurRad="635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605" y="993038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629107" y="961949"/>
            <a:ext cx="140269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100"/>
              <a:buFont typeface="Open Sans"/>
              <a:buNone/>
            </a:pPr>
            <a:r>
              <a:rPr lang="en-US" sz="1100" b="1" i="0" u="none" strike="noStrike" cap="none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Bài toán N-Queens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95605" y="1214323"/>
            <a:ext cx="453908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Đặt n quân hậu lên bàn cờ n×n sao cho không quân nào tấn công nhau.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381305" y="1633118"/>
            <a:ext cx="139354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Biểu diễn trạng thái: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81305" y="1904695"/>
            <a:ext cx="267005" cy="267005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8100" dist="25400" dir="5400000" algn="bl" rotWithShape="0">
              <a:srgbClr val="3B82F6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8" descr="preencoded.png"/>
          <p:cNvPicPr preferRelativeResize="0"/>
          <p:nvPr/>
        </p:nvPicPr>
        <p:blipFill rotWithShape="1">
          <a:blip r:embed="rId4">
            <a:alphaModFix/>
          </a:blip>
          <a:srcRect l="-2571" r="-2570"/>
          <a:stretch/>
        </p:blipFill>
        <p:spPr>
          <a:xfrm>
            <a:off x="461772" y="1981505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381305" y="2305202"/>
            <a:ext cx="831190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Ràng buộc: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43407" y="1923898"/>
            <a:ext cx="48344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Mảng n phần tử: mỗi phần tử là vị trí cột của quân hậu trên hàng tương ứng.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81305" y="2576779"/>
            <a:ext cx="3305556" cy="314554"/>
          </a:xfrm>
          <a:prstGeom prst="roundRect">
            <a:avLst>
              <a:gd name="adj" fmla="val 52854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402" y="267644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3762756" y="2576779"/>
            <a:ext cx="3305556" cy="314554"/>
          </a:xfrm>
          <a:prstGeom prst="roundRect">
            <a:avLst>
              <a:gd name="adj" fmla="val 52854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590702" y="2643530"/>
            <a:ext cx="122438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Không trùng hàng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7854" y="267644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381305" y="2967228"/>
            <a:ext cx="3305556" cy="314554"/>
          </a:xfrm>
          <a:prstGeom prst="roundRect">
            <a:avLst>
              <a:gd name="adj" fmla="val 52854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3972154" y="2643530"/>
            <a:ext cx="1100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Không trùng cột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402" y="306689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3762756" y="2967228"/>
            <a:ext cx="3305556" cy="314554"/>
          </a:xfrm>
          <a:prstGeom prst="roundRect">
            <a:avLst>
              <a:gd name="adj" fmla="val 52854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590702" y="3033979"/>
            <a:ext cx="158648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Không trùng chéo chính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7854" y="306689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381305" y="3862426"/>
            <a:ext cx="114574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Liên hệ với CSP: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3972154" y="3033979"/>
            <a:ext cx="149138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Không trùng chéo phụ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81305" y="3396082"/>
            <a:ext cx="6687007" cy="352044"/>
          </a:xfrm>
          <a:prstGeom prst="roundRect">
            <a:avLst>
              <a:gd name="adj" fmla="val 42120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81305" y="3396082"/>
            <a:ext cx="38405" cy="3520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533095" y="3481121"/>
            <a:ext cx="54059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Tấn công: Hai quân hậu tấn công nhau khi nằm trên cùng hàng, cột hoặc đường chéo.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381305" y="4134002"/>
            <a:ext cx="25914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Biến: Vị trí quân hậu trên mỗi hàng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381305" y="4457700"/>
            <a:ext cx="17812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Miền giá trị: Cột (1 → 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381305" y="4781398"/>
            <a:ext cx="354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Ràng buộc: Không quân nào tấn công quân khác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353605" y="857707"/>
            <a:ext cx="4457700" cy="4457700"/>
          </a:xfrm>
          <a:prstGeom prst="roundRect">
            <a:avLst>
              <a:gd name="adj" fmla="val 43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635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" name="Google Shape;199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2749" y="866851"/>
            <a:ext cx="4438498" cy="44384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381305" y="5524805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1541557" y="5524805"/>
            <a:ext cx="3739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6/16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381305" y="276149"/>
            <a:ext cx="26865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Phần 1 – Mục tiêu tối ưu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81305" y="800100"/>
            <a:ext cx="6715354" cy="437998"/>
          </a:xfrm>
          <a:prstGeom prst="roundRect">
            <a:avLst>
              <a:gd name="adj" fmla="val 36307"/>
            </a:avLst>
          </a:prstGeom>
          <a:solidFill>
            <a:srgbClr val="F1F5F9"/>
          </a:solidFill>
          <a:ln>
            <a:noFill/>
          </a:ln>
          <a:effectLst>
            <a:outerShdw blurRad="635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402" y="933602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/>
          <p:nvPr/>
        </p:nvSpPr>
        <p:spPr>
          <a:xfrm>
            <a:off x="599846" y="905256"/>
            <a:ext cx="46817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Mục tiêu: Tăng tốc hàm đếm xung đột count_conflicts() trong N-Queens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381305" y="1371600"/>
            <a:ext cx="159379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So sánh 3 cách cài đặt: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81305" y="1662379"/>
            <a:ext cx="6715354" cy="599846"/>
          </a:xfrm>
          <a:prstGeom prst="roundRect">
            <a:avLst>
              <a:gd name="adj" fmla="val 1935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85546" y="1747418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9" descr="preencoded.png"/>
          <p:cNvPicPr preferRelativeResize="0"/>
          <p:nvPr/>
        </p:nvPicPr>
        <p:blipFill rotWithShape="1">
          <a:blip r:embed="rId4">
            <a:alphaModFix/>
          </a:blip>
          <a:srcRect t="-80" b="-80"/>
          <a:stretch/>
        </p:blipFill>
        <p:spPr>
          <a:xfrm>
            <a:off x="528523" y="1805026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381305" y="2353666"/>
            <a:ext cx="6715354" cy="599846"/>
          </a:xfrm>
          <a:prstGeom prst="roundRect">
            <a:avLst>
              <a:gd name="adj" fmla="val 1935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81305" y="3044952"/>
            <a:ext cx="6715354" cy="599846"/>
          </a:xfrm>
          <a:prstGeom prst="roundRect">
            <a:avLst>
              <a:gd name="adj" fmla="val 19357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85546" y="2439619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85546" y="313090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790956" y="1769364"/>
            <a:ext cx="2446020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Naive O(n²) – duyệt tất cả cặp quân hậu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790956" y="2014423"/>
            <a:ext cx="3286354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Duyệt trực tiếp kiểm tra từng cặp quân hậu để tìm xung đột.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9" descr="preencoded.png"/>
          <p:cNvPicPr preferRelativeResize="0"/>
          <p:nvPr/>
        </p:nvPicPr>
        <p:blipFill rotWithShape="1">
          <a:blip r:embed="rId5">
            <a:alphaModFix/>
          </a:blip>
          <a:srcRect l="-2571" r="-2570"/>
          <a:stretch/>
        </p:blipFill>
        <p:spPr>
          <a:xfrm>
            <a:off x="547726" y="2496312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 txBox="1"/>
          <p:nvPr/>
        </p:nvSpPr>
        <p:spPr>
          <a:xfrm>
            <a:off x="790956" y="2460650"/>
            <a:ext cx="352226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Linear O(n) – dùng mảng đếm hàng, chéo chính, chéo phụ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790956" y="3151937"/>
            <a:ext cx="272216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Numba JIT O(n) – biên dịch phiên bản Linear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790956" y="2705710"/>
            <a:ext cx="3801161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Sử dụng mảng đếm theo dõi số quân hậu trên mỗi hàng, đường chéo.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3154" y="318759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 txBox="1"/>
          <p:nvPr/>
        </p:nvSpPr>
        <p:spPr>
          <a:xfrm>
            <a:off x="790956" y="3396996"/>
            <a:ext cx="3419856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Just-In-Time compiler chuyển mã Python thành mã máy tối ưu.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81305" y="3736238"/>
            <a:ext cx="6715354" cy="590702"/>
          </a:xfrm>
          <a:prstGeom prst="roundRect">
            <a:avLst>
              <a:gd name="adj" fmla="val 14981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81305" y="3736238"/>
            <a:ext cx="38405" cy="59070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533095" y="3802990"/>
            <a:ext cx="502920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Lợi ích: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33095" y="4021531"/>
            <a:ext cx="1410005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080967"/>
            <a:ext cx="105156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2029968" y="4021531"/>
            <a:ext cx="1333195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454603" y="4021531"/>
            <a:ext cx="1114654" cy="2286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714146" y="4040734"/>
            <a:ext cx="12454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Giảm thời gian xử lý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5863" y="4080967"/>
            <a:ext cx="105156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 txBox="1"/>
          <p:nvPr/>
        </p:nvSpPr>
        <p:spPr>
          <a:xfrm>
            <a:off x="2211019" y="4040734"/>
            <a:ext cx="116951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Cải thiện hiệu suất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30498" y="4080967"/>
            <a:ext cx="105156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 txBox="1"/>
          <p:nvPr/>
        </p:nvSpPr>
        <p:spPr>
          <a:xfrm>
            <a:off x="3634740" y="4040734"/>
            <a:ext cx="95097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Tăng tốc hội tụ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334402" y="992124"/>
            <a:ext cx="4476902" cy="3143707"/>
          </a:xfrm>
          <a:prstGeom prst="roundRect">
            <a:avLst>
              <a:gd name="adj" fmla="val 881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635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9" descr="preencoded.png"/>
          <p:cNvPicPr preferRelativeResize="0"/>
          <p:nvPr/>
        </p:nvPicPr>
        <p:blipFill rotWithShape="1">
          <a:blip r:embed="rId10">
            <a:alphaModFix/>
          </a:blip>
          <a:srcRect l="87" r="86"/>
          <a:stretch/>
        </p:blipFill>
        <p:spPr>
          <a:xfrm>
            <a:off x="7343546" y="1001268"/>
            <a:ext cx="4457700" cy="312450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381305" y="4512564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1541557" y="4512564"/>
            <a:ext cx="3739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7/16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10" descr="preencoded.png"/>
          <p:cNvPicPr preferRelativeResize="0"/>
          <p:nvPr/>
        </p:nvPicPr>
        <p:blipFill rotWithShape="1">
          <a:blip r:embed="rId3">
            <a:alphaModFix/>
          </a:blip>
          <a:srcRect t="21874" b="21873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 txBox="1"/>
          <p:nvPr/>
        </p:nvSpPr>
        <p:spPr>
          <a:xfrm>
            <a:off x="571500" y="381305"/>
            <a:ext cx="3596335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Kết quả so sánh hiệu năng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71500" y="1345082"/>
            <a:ext cx="11048695" cy="59070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71500" y="1345082"/>
            <a:ext cx="11048695" cy="590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71500" y="1916582"/>
            <a:ext cx="2800807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366821" y="1916582"/>
            <a:ext cx="1971446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330038" y="1916582"/>
            <a:ext cx="3400654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8723376" y="1916582"/>
            <a:ext cx="2905049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761695" y="1535278"/>
            <a:ext cx="8293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Phiên bản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3557930" y="1535278"/>
            <a:ext cx="9720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Độ phức tạp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5520233" y="1535278"/>
            <a:ext cx="18772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Thời gian trung bình (µs)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8913571" y="1535278"/>
            <a:ext cx="15627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Hiệu năng tương đối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71500" y="1935785"/>
            <a:ext cx="11048695" cy="5431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71500" y="2469794"/>
            <a:ext cx="2800807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10" descr="preencoded.png"/>
          <p:cNvPicPr preferRelativeResize="0"/>
          <p:nvPr/>
        </p:nvPicPr>
        <p:blipFill rotWithShape="1">
          <a:blip r:embed="rId4">
            <a:alphaModFix/>
          </a:blip>
          <a:srcRect t="-180" b="-179"/>
          <a:stretch/>
        </p:blipFill>
        <p:spPr>
          <a:xfrm>
            <a:off x="761695" y="2125980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571500" y="2478024"/>
            <a:ext cx="11048695" cy="543154"/>
          </a:xfrm>
          <a:prstGeom prst="rect">
            <a:avLst/>
          </a:prstGeom>
          <a:solidFill>
            <a:srgbClr val="DBEA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71500" y="3021178"/>
            <a:ext cx="11048695" cy="5330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330038" y="2469794"/>
            <a:ext cx="340065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723376" y="2469794"/>
            <a:ext cx="2905049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71500" y="3012034"/>
            <a:ext cx="2800807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5330038" y="3012034"/>
            <a:ext cx="340065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8723376" y="3012034"/>
            <a:ext cx="2905049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1067105" y="2097634"/>
            <a:ext cx="943661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Naive O(n²)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1009498" y="2639873"/>
            <a:ext cx="9336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Linear O(n)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028700" y="3183026"/>
            <a:ext cx="123901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Numba JIT O(n)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366821" y="2469794"/>
            <a:ext cx="197144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366821" y="3012034"/>
            <a:ext cx="197144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3557930" y="2097634"/>
            <a:ext cx="4764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Open Sans"/>
              <a:buNone/>
            </a:pPr>
            <a:r>
              <a:rPr lang="en-US" sz="1200" b="0" i="1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O(n²)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557930" y="2639873"/>
            <a:ext cx="41971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Open Sans"/>
              <a:buNone/>
            </a:pPr>
            <a:r>
              <a:rPr lang="en-US" sz="1200" b="0" i="1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O(n)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3557930" y="3183026"/>
            <a:ext cx="41971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Open Sans"/>
              <a:buNone/>
            </a:pPr>
            <a:r>
              <a:rPr lang="en-US" sz="1200" b="0" i="1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O(n)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5520233" y="2097634"/>
            <a:ext cx="50566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26.12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5520233" y="2639873"/>
            <a:ext cx="41971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5.60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056218" y="2179930"/>
            <a:ext cx="95280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9056218" y="2179930"/>
            <a:ext cx="47549" cy="75895"/>
          </a:xfrm>
          <a:prstGeom prst="roundRect">
            <a:avLst>
              <a:gd name="adj" fmla="val 1538455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10" descr="preencoded.png"/>
          <p:cNvPicPr preferRelativeResize="0"/>
          <p:nvPr/>
        </p:nvPicPr>
        <p:blipFill rotWithShape="1">
          <a:blip r:embed="rId5">
            <a:alphaModFix/>
          </a:blip>
          <a:srcRect t="-43" b="-42"/>
          <a:stretch/>
        </p:blipFill>
        <p:spPr>
          <a:xfrm>
            <a:off x="761695" y="2669134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9056218" y="2723083"/>
            <a:ext cx="95280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9056218" y="2723083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7" name="Google Shape;28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695" y="321137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 txBox="1"/>
          <p:nvPr/>
        </p:nvSpPr>
        <p:spPr>
          <a:xfrm>
            <a:off x="5520233" y="3183026"/>
            <a:ext cx="41971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0.56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056218" y="3266237"/>
            <a:ext cx="95280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9056218" y="3266237"/>
            <a:ext cx="95280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71500" y="3840480"/>
            <a:ext cx="11048695" cy="1904695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71500" y="3840480"/>
            <a:ext cx="47549" cy="190469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857707" y="4059022"/>
            <a:ext cx="15151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Phân tích hiệu năng: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857707" y="4526280"/>
            <a:ext cx="52678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Linear nhanh hơn Naive ~5 lần nhờ tối ưu thuật toán từ O(n²) xuống O(n)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857707" y="4869180"/>
            <a:ext cx="57058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Numba JIT nhanh hơn Linear ~10 lần nhờ biên dịch code Python thành mã máy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857707" y="5212080"/>
            <a:ext cx="64867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Tổng cải thiện từ Naive đến Numba JIT lên đến ~47 lần - tiến gần hiệu suất của code C/C++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9193378" y="6137453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571500" y="381305"/>
            <a:ext cx="2319833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Nhận xét Phần 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571500" y="1104595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Tính nhất quán: Cả ba cách đều cho kết quả logic giống nhau.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571500" y="1466698"/>
            <a:ext cx="5191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Cải tiến thuật toán: Từ O(n²) xuống O(n) giúp giảm thời gian xử lý ~5 lần.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571500" y="1828800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Just-In-Time (JIT): Biên dịch mã Python thành mã máy - hiệu năng tiến gần mức ngôn ngữ 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571500" y="2419502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Ứng dụng tốt trong Local Search: Cần tính xung đột nhiều lần → tối ưu hàm này giúp cải thiện toàn bộ thuật toán.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71500" y="3066898"/>
            <a:ext cx="6400800" cy="1257300"/>
          </a:xfrm>
          <a:prstGeom prst="roundRect">
            <a:avLst>
              <a:gd name="adj" fmla="val 5510"/>
            </a:avLst>
          </a:prstGeom>
          <a:solidFill>
            <a:srgbClr val="DBEAFE"/>
          </a:solidFill>
          <a:ln>
            <a:noFill/>
          </a:ln>
          <a:effectLst>
            <a:outerShdw blurRad="1143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761695" y="3238805"/>
            <a:ext cx="7242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Kết luận: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761695" y="3571646"/>
            <a:ext cx="301020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Tối ưu nhỏ cải thiện lớn trong bài toán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1" descr="preencoded.png"/>
          <p:cNvPicPr preferRelativeResize="0"/>
          <p:nvPr/>
        </p:nvPicPr>
        <p:blipFill rotWithShape="1">
          <a:blip r:embed="rId3">
            <a:alphaModFix/>
          </a:blip>
          <a:srcRect t="-100" b="-100"/>
          <a:stretch/>
        </p:blipFill>
        <p:spPr>
          <a:xfrm>
            <a:off x="1047902" y="3866998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 txBox="1"/>
          <p:nvPr/>
        </p:nvSpPr>
        <p:spPr>
          <a:xfrm>
            <a:off x="1162202" y="3877056"/>
            <a:ext cx="512521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Gợi ý: Cân bằng giữa việc phân tích tối ưu và áp dụng trực tiếp thư viện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7353605" y="1104595"/>
            <a:ext cx="4267505" cy="3276295"/>
          </a:xfrm>
          <a:prstGeom prst="roundRect">
            <a:avLst>
              <a:gd name="adj" fmla="val 974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90500" dist="762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11" descr="preencoded.png"/>
          <p:cNvPicPr preferRelativeResize="0"/>
          <p:nvPr/>
        </p:nvPicPr>
        <p:blipFill rotWithShape="1">
          <a:blip r:embed="rId4">
            <a:alphaModFix/>
          </a:blip>
          <a:srcRect l="113" r="114"/>
          <a:stretch/>
        </p:blipFill>
        <p:spPr>
          <a:xfrm>
            <a:off x="7362749" y="1114654"/>
            <a:ext cx="4248302" cy="325800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 txBox="1"/>
          <p:nvPr/>
        </p:nvSpPr>
        <p:spPr>
          <a:xfrm>
            <a:off x="571500" y="4717390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11334902" y="4717390"/>
            <a:ext cx="38862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9/16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 txBox="1"/>
          <p:nvPr/>
        </p:nvSpPr>
        <p:spPr>
          <a:xfrm>
            <a:off x="286207" y="276149"/>
            <a:ext cx="4510735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900"/>
              <a:buFont typeface="Roboto"/>
              <a:buNone/>
            </a:pPr>
            <a:r>
              <a:rPr lang="en-US" sz="19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Phần 2 – Local Search trong N-Queens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286207" y="847649"/>
            <a:ext cx="7525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Mục tiêu: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286207" y="1476756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Các thuật toán: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286207" y="1143000"/>
            <a:ext cx="4315054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 sánh 4 thuật toán Local Search trong bài toán N-Queens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286207" y="1762049"/>
            <a:ext cx="3381451" cy="495605"/>
          </a:xfrm>
          <a:prstGeom prst="roundRect">
            <a:avLst>
              <a:gd name="adj" fmla="val 28385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381305" y="1881835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056" y="194858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 txBox="1"/>
          <p:nvPr/>
        </p:nvSpPr>
        <p:spPr>
          <a:xfrm>
            <a:off x="286207" y="2927909"/>
            <a:ext cx="10579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Thực nghiệm: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738982" y="1762049"/>
            <a:ext cx="3381451" cy="495605"/>
          </a:xfrm>
          <a:prstGeom prst="roundRect">
            <a:avLst>
              <a:gd name="adj" fmla="val 28385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3738982" y="2326234"/>
            <a:ext cx="3381451" cy="495605"/>
          </a:xfrm>
          <a:prstGeom prst="roundRect">
            <a:avLst>
              <a:gd name="adj" fmla="val 28385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3834079" y="1881835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3834079" y="2446020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"/>
          <p:cNvSpPr txBox="1"/>
          <p:nvPr/>
        </p:nvSpPr>
        <p:spPr>
          <a:xfrm>
            <a:off x="705002" y="1837944"/>
            <a:ext cx="122712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Steepest-Ascent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705002" y="1986991"/>
            <a:ext cx="180776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Luôn chọn bước tăng tốt nhất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12" descr="preencoded.png"/>
          <p:cNvPicPr preferRelativeResize="0"/>
          <p:nvPr/>
        </p:nvPicPr>
        <p:blipFill rotWithShape="1">
          <a:blip r:embed="rId4">
            <a:alphaModFix/>
          </a:blip>
          <a:srcRect t="-80" b="-80"/>
          <a:stretch/>
        </p:blipFill>
        <p:spPr>
          <a:xfrm>
            <a:off x="3886200" y="1948586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286207" y="2326234"/>
            <a:ext cx="3381451" cy="495605"/>
          </a:xfrm>
          <a:prstGeom prst="roundRect">
            <a:avLst>
              <a:gd name="adj" fmla="val 28385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381305" y="2446020"/>
            <a:ext cx="247802" cy="24780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4157777" y="1837944"/>
            <a:ext cx="88422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Stochastic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4157777" y="1986991"/>
            <a:ext cx="157002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Ngẫu nhiên theo xác suất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056" y="251277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 txBox="1"/>
          <p:nvPr/>
        </p:nvSpPr>
        <p:spPr>
          <a:xfrm>
            <a:off x="705002" y="2402129"/>
            <a:ext cx="979322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First-Choice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705002" y="2550262"/>
            <a:ext cx="152247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Chọn bước tăng đầu tiên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0830" y="251277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 txBox="1"/>
          <p:nvPr/>
        </p:nvSpPr>
        <p:spPr>
          <a:xfrm>
            <a:off x="4157777" y="2402129"/>
            <a:ext cx="128381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4157777" y="2550262"/>
            <a:ext cx="18169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Cho phép bước giảm tạm thời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286207" y="3254350"/>
            <a:ext cx="8339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Kích thước: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110082" y="3213202"/>
            <a:ext cx="53309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12" descr="preencoded.png"/>
          <p:cNvPicPr preferRelativeResize="0"/>
          <p:nvPr/>
        </p:nvPicPr>
        <p:blipFill rotWithShape="1">
          <a:blip r:embed="rId7">
            <a:alphaModFix/>
          </a:blip>
          <a:srcRect l="-1676" r="-1676"/>
          <a:stretch/>
        </p:blipFill>
        <p:spPr>
          <a:xfrm>
            <a:off x="1185977" y="3291840"/>
            <a:ext cx="95098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1696212" y="3213202"/>
            <a:ext cx="53309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1281074" y="3251606"/>
            <a:ext cx="37947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= 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2" descr="preencoded.png"/>
          <p:cNvPicPr preferRelativeResize="0"/>
          <p:nvPr/>
        </p:nvPicPr>
        <p:blipFill rotWithShape="1">
          <a:blip r:embed="rId7">
            <a:alphaModFix/>
          </a:blip>
          <a:srcRect l="-1676" r="-1676"/>
          <a:stretch/>
        </p:blipFill>
        <p:spPr>
          <a:xfrm>
            <a:off x="1773022" y="3291840"/>
            <a:ext cx="95098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2283257" y="3213202"/>
            <a:ext cx="6099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1868119" y="3251606"/>
            <a:ext cx="37947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= 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2" descr="preencoded.png"/>
          <p:cNvPicPr preferRelativeResize="0"/>
          <p:nvPr/>
        </p:nvPicPr>
        <p:blipFill rotWithShape="1">
          <a:blip r:embed="rId7">
            <a:alphaModFix/>
          </a:blip>
          <a:srcRect l="-1676" r="-1676"/>
          <a:stretch/>
        </p:blipFill>
        <p:spPr>
          <a:xfrm>
            <a:off x="2359152" y="3291840"/>
            <a:ext cx="95098" cy="1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 txBox="1"/>
          <p:nvPr/>
        </p:nvSpPr>
        <p:spPr>
          <a:xfrm>
            <a:off x="2455164" y="3251606"/>
            <a:ext cx="455371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= 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286207" y="3551530"/>
            <a:ext cx="952805" cy="437998"/>
          </a:xfrm>
          <a:prstGeom prst="roundRect">
            <a:avLst>
              <a:gd name="adj" fmla="val 18154"/>
            </a:avLst>
          </a:prstGeom>
          <a:solidFill>
            <a:srgbClr val="F0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286207" y="3551530"/>
            <a:ext cx="28346" cy="43799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1" name="Google Shape;361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0449" y="362285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1314907" y="3551530"/>
            <a:ext cx="933602" cy="437998"/>
          </a:xfrm>
          <a:prstGeom prst="roundRect">
            <a:avLst>
              <a:gd name="adj" fmla="val 18154"/>
            </a:avLst>
          </a:prstGeom>
          <a:solidFill>
            <a:srgbClr val="F0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1314907" y="3551530"/>
            <a:ext cx="28346" cy="43799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 txBox="1"/>
          <p:nvPr/>
        </p:nvSpPr>
        <p:spPr>
          <a:xfrm>
            <a:off x="390449" y="3599078"/>
            <a:ext cx="695858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Thời gian thực thi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19149" y="362285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/>
          <p:nvPr/>
        </p:nvSpPr>
        <p:spPr>
          <a:xfrm>
            <a:off x="2318004" y="3551530"/>
            <a:ext cx="952805" cy="437998"/>
          </a:xfrm>
          <a:prstGeom prst="roundRect">
            <a:avLst>
              <a:gd name="adj" fmla="val 18154"/>
            </a:avLst>
          </a:prstGeom>
          <a:solidFill>
            <a:srgbClr val="F0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2318004" y="3551530"/>
            <a:ext cx="28346" cy="43799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 txBox="1"/>
          <p:nvPr/>
        </p:nvSpPr>
        <p:spPr>
          <a:xfrm>
            <a:off x="1533449" y="3599078"/>
            <a:ext cx="724205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Số xung đột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12" descr="preencoded.png"/>
          <p:cNvPicPr preferRelativeResize="0"/>
          <p:nvPr/>
        </p:nvPicPr>
        <p:blipFill rotWithShape="1">
          <a:blip r:embed="rId10">
            <a:alphaModFix/>
          </a:blip>
          <a:srcRect l="-133" r="-133"/>
          <a:stretch/>
        </p:blipFill>
        <p:spPr>
          <a:xfrm>
            <a:off x="2423160" y="3622853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 txBox="1"/>
          <p:nvPr/>
        </p:nvSpPr>
        <p:spPr>
          <a:xfrm>
            <a:off x="2423160" y="3599078"/>
            <a:ext cx="838505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% tìm nghiệm tối ưu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7353605" y="828446"/>
            <a:ext cx="4552798" cy="3047695"/>
          </a:xfrm>
          <a:prstGeom prst="roundRect">
            <a:avLst>
              <a:gd name="adj" fmla="val 93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p12" descr="preencoded.png"/>
          <p:cNvPicPr preferRelativeResize="0"/>
          <p:nvPr/>
        </p:nvPicPr>
        <p:blipFill rotWithShape="1">
          <a:blip r:embed="rId11">
            <a:alphaModFix/>
          </a:blip>
          <a:srcRect l="116" r="116"/>
          <a:stretch/>
        </p:blipFill>
        <p:spPr>
          <a:xfrm>
            <a:off x="7362749" y="838505"/>
            <a:ext cx="4533595" cy="302940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7353605" y="3965753"/>
            <a:ext cx="4552798" cy="457200"/>
          </a:xfrm>
          <a:prstGeom prst="roundRect">
            <a:avLst>
              <a:gd name="adj" fmla="val 25000"/>
            </a:avLst>
          </a:prstGeom>
          <a:solidFill>
            <a:srgbClr val="F0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7353605" y="3965753"/>
            <a:ext cx="28346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 txBox="1"/>
          <p:nvPr/>
        </p:nvSpPr>
        <p:spPr>
          <a:xfrm>
            <a:off x="7477049" y="4032504"/>
            <a:ext cx="4353458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Hình minh họa: Hill Climbing (xanh) thường kẹt ở cực trị cục bộ, trong khi SA (đỏ) có thể vượt qua để tìm cực trị toàn cục.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286207" y="4605833"/>
            <a:ext cx="225399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11582705" y="4605833"/>
            <a:ext cx="416052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10/16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13" descr="preencoded.png"/>
          <p:cNvPicPr preferRelativeResize="0"/>
          <p:nvPr/>
        </p:nvPicPr>
        <p:blipFill rotWithShape="1">
          <a:blip r:embed="rId3">
            <a:alphaModFix/>
          </a:blip>
          <a:srcRect t="21874" b="21873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 txBox="1"/>
          <p:nvPr/>
        </p:nvSpPr>
        <p:spPr>
          <a:xfrm>
            <a:off x="571500" y="286207"/>
            <a:ext cx="2967228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Bảng kết quả so sánh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571500" y="1168603"/>
            <a:ext cx="11048695" cy="43799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571500" y="1168603"/>
            <a:ext cx="11048695" cy="437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571500" y="1587398"/>
            <a:ext cx="3877056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440326" y="1587398"/>
            <a:ext cx="580644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5019142" y="1587398"/>
            <a:ext cx="2295144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7309714" y="1587398"/>
            <a:ext cx="2247595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9557309" y="1587398"/>
            <a:ext cx="2066544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"/>
          <p:cNvSpPr txBox="1"/>
          <p:nvPr/>
        </p:nvSpPr>
        <p:spPr>
          <a:xfrm>
            <a:off x="647395" y="1301191"/>
            <a:ext cx="722376" cy="14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Thuật toán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4517136" y="1301191"/>
            <a:ext cx="169164" cy="14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5095037" y="1301191"/>
            <a:ext cx="836676" cy="14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Thời gian (s)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 txBox="1"/>
          <p:nvPr/>
        </p:nvSpPr>
        <p:spPr>
          <a:xfrm>
            <a:off x="7386523" y="1301191"/>
            <a:ext cx="817474" cy="14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Xung đột TB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9633204" y="1301191"/>
            <a:ext cx="559613" cy="14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% tối ưu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71500" y="1601114"/>
            <a:ext cx="11048695" cy="5330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71500" y="2668219"/>
            <a:ext cx="11048695" cy="5330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571500" y="1944014"/>
            <a:ext cx="38770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" name="Google Shape;401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95" y="171358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3"/>
          <p:cNvSpPr/>
          <p:nvPr/>
        </p:nvSpPr>
        <p:spPr>
          <a:xfrm>
            <a:off x="571500" y="2135124"/>
            <a:ext cx="11048695" cy="533095"/>
          </a:xfrm>
          <a:prstGeom prst="rect">
            <a:avLst/>
          </a:prstGeom>
          <a:solidFill>
            <a:srgbClr val="DBEA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4440326" y="2125066"/>
            <a:ext cx="5806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019142" y="2125066"/>
            <a:ext cx="22951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7309714" y="2125066"/>
            <a:ext cx="22475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9557309" y="2125066"/>
            <a:ext cx="20665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71500" y="2478024"/>
            <a:ext cx="38770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4440326" y="2659075"/>
            <a:ext cx="5806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019142" y="2659075"/>
            <a:ext cx="22951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309714" y="2659075"/>
            <a:ext cx="22475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9557309" y="2659075"/>
            <a:ext cx="20665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71500" y="3011119"/>
            <a:ext cx="38770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4440326" y="3192170"/>
            <a:ext cx="5806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761695" y="1677924"/>
            <a:ext cx="81747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Steepest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4517136" y="1770278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 txBox="1"/>
          <p:nvPr/>
        </p:nvSpPr>
        <p:spPr>
          <a:xfrm>
            <a:off x="5095037" y="1770278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0.00019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9633204" y="1677924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761695" y="2211019"/>
            <a:ext cx="9125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Stochastic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4517136" y="2304288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5095037" y="2304288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0.00021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9633204" y="2211019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7386523" y="1770278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0.65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9710014" y="1934870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9710014" y="1934870"/>
            <a:ext cx="247802" cy="57607"/>
          </a:xfrm>
          <a:prstGeom prst="roundRect">
            <a:avLst>
              <a:gd name="adj" fmla="val 793654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5" name="Google Shape;425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395" y="224668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3"/>
          <p:cNvSpPr txBox="1"/>
          <p:nvPr/>
        </p:nvSpPr>
        <p:spPr>
          <a:xfrm>
            <a:off x="790956" y="2744114"/>
            <a:ext cx="100766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First-Choice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7386523" y="2304288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0.79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9710014" y="2468880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9710014" y="2468880"/>
            <a:ext cx="200254" cy="57607"/>
          </a:xfrm>
          <a:prstGeom prst="roundRect">
            <a:avLst>
              <a:gd name="adj" fmla="val 793654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0" name="Google Shape;430;p13" descr="preencoded.png"/>
          <p:cNvPicPr preferRelativeResize="0"/>
          <p:nvPr/>
        </p:nvPicPr>
        <p:blipFill rotWithShape="1">
          <a:blip r:embed="rId6">
            <a:alphaModFix/>
          </a:blip>
          <a:srcRect t="-80" b="-80"/>
          <a:stretch/>
        </p:blipFill>
        <p:spPr>
          <a:xfrm>
            <a:off x="647395" y="2780690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3"/>
          <p:cNvSpPr/>
          <p:nvPr/>
        </p:nvSpPr>
        <p:spPr>
          <a:xfrm>
            <a:off x="5019142" y="3192170"/>
            <a:ext cx="22951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7309714" y="3192170"/>
            <a:ext cx="22475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9557309" y="3192170"/>
            <a:ext cx="20665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 txBox="1"/>
          <p:nvPr/>
        </p:nvSpPr>
        <p:spPr>
          <a:xfrm>
            <a:off x="4517136" y="2837383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5095037" y="2837383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0.02797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9633204" y="2744114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7386523" y="2837383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0.71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9710014" y="300197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9710014" y="3001975"/>
            <a:ext cx="247802" cy="57607"/>
          </a:xfrm>
          <a:prstGeom prst="roundRect">
            <a:avLst>
              <a:gd name="adj" fmla="val 793654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571500" y="3201314"/>
            <a:ext cx="11048695" cy="352044"/>
          </a:xfrm>
          <a:prstGeom prst="rect">
            <a:avLst/>
          </a:prstGeom>
          <a:solidFill>
            <a:srgbClr val="10B981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571500" y="3544214"/>
            <a:ext cx="38770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395" y="331378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"/>
          <p:cNvSpPr/>
          <p:nvPr/>
        </p:nvSpPr>
        <p:spPr>
          <a:xfrm>
            <a:off x="571500" y="3549701"/>
            <a:ext cx="11048695" cy="5330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571500" y="3892601"/>
            <a:ext cx="38770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4440326" y="4073652"/>
            <a:ext cx="5806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5019142" y="4073652"/>
            <a:ext cx="22951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7309714" y="4073652"/>
            <a:ext cx="22475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9557309" y="4073652"/>
            <a:ext cx="20665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761695" y="3625596"/>
            <a:ext cx="81747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Steepest HC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 txBox="1"/>
          <p:nvPr/>
        </p:nvSpPr>
        <p:spPr>
          <a:xfrm>
            <a:off x="4517136" y="3718865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5095037" y="3718865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0.00233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 txBox="1"/>
          <p:nvPr/>
        </p:nvSpPr>
        <p:spPr>
          <a:xfrm>
            <a:off x="9633204" y="3625596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7386523" y="3718865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9710014" y="388254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571500" y="4082796"/>
            <a:ext cx="11048695" cy="342900"/>
          </a:xfrm>
          <a:prstGeom prst="rect">
            <a:avLst/>
          </a:prstGeom>
          <a:solidFill>
            <a:srgbClr val="10B981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4440326" y="3544214"/>
            <a:ext cx="5806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5019142" y="3544214"/>
            <a:ext cx="22951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7309714" y="3544214"/>
            <a:ext cx="224759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9557309" y="3544214"/>
            <a:ext cx="206654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3"/>
          <p:cNvSpPr txBox="1"/>
          <p:nvPr/>
        </p:nvSpPr>
        <p:spPr>
          <a:xfrm>
            <a:off x="761695" y="3278124"/>
            <a:ext cx="133136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4517136" y="3278124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5095037" y="3278124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0.00241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7386523" y="3278124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9633204" y="3278124"/>
            <a:ext cx="41696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95" y="366125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5095037" y="4158691"/>
            <a:ext cx="55961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0.01922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 txBox="1"/>
          <p:nvPr/>
        </p:nvSpPr>
        <p:spPr>
          <a:xfrm>
            <a:off x="7386523" y="4158691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 txBox="1"/>
          <p:nvPr/>
        </p:nvSpPr>
        <p:spPr>
          <a:xfrm>
            <a:off x="9633204" y="4158691"/>
            <a:ext cx="34107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9710014" y="3882542"/>
            <a:ext cx="75895" cy="57607"/>
          </a:xfrm>
          <a:prstGeom prst="roundRect">
            <a:avLst>
              <a:gd name="adj" fmla="val 793654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395" y="419435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3"/>
          <p:cNvSpPr txBox="1"/>
          <p:nvPr/>
        </p:nvSpPr>
        <p:spPr>
          <a:xfrm>
            <a:off x="761695" y="4158691"/>
            <a:ext cx="133136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4517136" y="4158691"/>
            <a:ext cx="16916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571500" y="4611319"/>
            <a:ext cx="11048695" cy="1380744"/>
          </a:xfrm>
          <a:prstGeom prst="roundRect">
            <a:avLst>
              <a:gd name="adj" fmla="val 4567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571500" y="4611319"/>
            <a:ext cx="47549" cy="1380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3"/>
          <p:cNvSpPr txBox="1"/>
          <p:nvPr/>
        </p:nvSpPr>
        <p:spPr>
          <a:xfrm>
            <a:off x="771754" y="4753966"/>
            <a:ext cx="117683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Phân tích kết quả: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771754" y="5106924"/>
            <a:ext cx="3491179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 đạt tỉ lệ tối ưu cao nhất (100% với n=4, 96% với n=8)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771754" y="5363870"/>
            <a:ext cx="3891686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Hill Climbing chỉ đạt 35-42% với n=4, giảm xuống 13% với n=8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771754" y="5620817"/>
            <a:ext cx="4358030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 cần thời gian lâu hơn, nhưng chất lượng vượt trội với xung đột ≈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9462211" y="6388913"/>
            <a:ext cx="225399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4"/>
          <p:cNvSpPr txBox="1"/>
          <p:nvPr/>
        </p:nvSpPr>
        <p:spPr>
          <a:xfrm>
            <a:off x="381305" y="0"/>
            <a:ext cx="2462479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 dirty="0" err="1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-US" sz="2200" b="1" i="0" u="none" strike="noStrike" cap="none" dirty="0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i="0" u="none" strike="noStrike" cap="none" dirty="0" err="1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tích</a:t>
            </a:r>
            <a:r>
              <a:rPr lang="en-US" sz="2200" b="1" i="0" u="none" strike="noStrike" cap="none" dirty="0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i="0" u="none" strike="noStrike" cap="none" dirty="0" err="1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biểu</a:t>
            </a:r>
            <a:r>
              <a:rPr lang="en-US" sz="2200" b="1" i="0" u="none" strike="noStrike" cap="none" dirty="0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i="0" u="none" strike="noStrike" cap="none" dirty="0" err="1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đồ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381306" y="492372"/>
            <a:ext cx="5806512" cy="4712674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88" name="Google Shape;488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951" y="55619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4"/>
          <p:cNvSpPr txBox="1"/>
          <p:nvPr/>
        </p:nvSpPr>
        <p:spPr>
          <a:xfrm>
            <a:off x="714146" y="536989"/>
            <a:ext cx="27916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1" i="0" u="none" strike="noStrike" cap="none" dirty="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Conflicts over iterations (n = 8)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523951" y="4453804"/>
            <a:ext cx="5663867" cy="80010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>
            <a:noFill/>
          </a:ln>
          <a:effectLst>
            <a:outerShdw blurRad="381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523951" y="4453804"/>
            <a:ext cx="38405" cy="800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4"/>
          <p:cNvSpPr txBox="1"/>
          <p:nvPr/>
        </p:nvSpPr>
        <p:spPr>
          <a:xfrm>
            <a:off x="694944" y="4548902"/>
            <a:ext cx="25530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Giảm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đều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tụ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về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0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xung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đột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694944" y="485431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HC: Dao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~4.5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xung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đột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kẹt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cực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trị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520657" y="511465"/>
            <a:ext cx="5290038" cy="4693581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01" name="Google Shape;501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6251" y="55619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4"/>
          <p:cNvSpPr txBox="1"/>
          <p:nvPr/>
        </p:nvSpPr>
        <p:spPr>
          <a:xfrm>
            <a:off x="7686446" y="536989"/>
            <a:ext cx="23052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Runtime scaling (log-log)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711769" y="4453804"/>
            <a:ext cx="5108118" cy="80010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>
            <a:noFill/>
          </a:ln>
          <a:effectLst>
            <a:outerShdw blurRad="381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6728697" y="4453804"/>
            <a:ext cx="38405" cy="800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4"/>
          <p:cNvSpPr txBox="1"/>
          <p:nvPr/>
        </p:nvSpPr>
        <p:spPr>
          <a:xfrm>
            <a:off x="6870076" y="4548902"/>
            <a:ext cx="38011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Hill Climbing: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Gần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tuyến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theo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log(n),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nhanh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hơn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6870076" y="4854312"/>
            <a:ext cx="35817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Tốn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thời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hơn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(~6x),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đổi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lấy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nghiệm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tối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ưu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381305" y="5379274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11447374" y="5379274"/>
            <a:ext cx="4745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12/16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35EDE-C4CF-AF9D-3425-167881EB7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77" y="937110"/>
            <a:ext cx="5576643" cy="3573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D9B637-86AD-1A8A-7DF8-BF13F1DB8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465" y="937110"/>
            <a:ext cx="5290038" cy="3578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571500" y="381305"/>
            <a:ext cx="2319833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Nhận xét Phần 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 txBox="1"/>
          <p:nvPr/>
        </p:nvSpPr>
        <p:spPr>
          <a:xfrm>
            <a:off x="571500" y="1104595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Annealing: Hội tụ tốt, ổn định, đạt nghiệm tối ưu trong hầu hết các trường hợp (100% với n=4, 96% với n=8).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 txBox="1"/>
          <p:nvPr/>
        </p:nvSpPr>
        <p:spPr>
          <a:xfrm>
            <a:off x="571500" y="1733702"/>
            <a:ext cx="56299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Hill Climbing: Dễ kẹt ở các cực trị cục bộ, tỉ lệ đạt nghiệm tối ưu thấp (13-42%).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 txBox="1"/>
          <p:nvPr/>
        </p:nvSpPr>
        <p:spPr>
          <a:xfrm>
            <a:off x="571500" y="2133295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Trade-off thời gian/chất lượng: SA mất nhiều thời gian hơn HC (gấp ~10 lần) nhưng kết quả ổn định và chất lượng cao hơn.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571500" y="2762402"/>
            <a:ext cx="11622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Gợi ý mở rộng: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1047902" y="3161995"/>
            <a:ext cx="5924398" cy="381305"/>
          </a:xfrm>
          <a:prstGeom prst="roundRect">
            <a:avLst>
              <a:gd name="adj" fmla="val 47962"/>
            </a:avLst>
          </a:prstGeom>
          <a:solidFill>
            <a:srgbClr val="F0F7FF"/>
          </a:solidFill>
          <a:ln>
            <a:noFill/>
          </a:ln>
          <a:effectLst>
            <a:outerShdw blurRad="25400" dist="127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7" name="Google Shape;52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202" y="32762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5"/>
          <p:cNvSpPr/>
          <p:nvPr/>
        </p:nvSpPr>
        <p:spPr>
          <a:xfrm>
            <a:off x="1047902" y="3657600"/>
            <a:ext cx="5924398" cy="381305"/>
          </a:xfrm>
          <a:prstGeom prst="roundRect">
            <a:avLst>
              <a:gd name="adj" fmla="val 47962"/>
            </a:avLst>
          </a:prstGeom>
          <a:solidFill>
            <a:srgbClr val="F0F7FF"/>
          </a:solidFill>
          <a:ln>
            <a:noFill/>
          </a:ln>
          <a:effectLst>
            <a:outerShdw blurRad="25400" dist="127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5"/>
          <p:cNvSpPr txBox="1"/>
          <p:nvPr/>
        </p:nvSpPr>
        <p:spPr>
          <a:xfrm>
            <a:off x="1314907" y="3247949"/>
            <a:ext cx="219090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Random Restart Hill Climbing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202" y="3771900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5"/>
          <p:cNvSpPr txBox="1"/>
          <p:nvPr/>
        </p:nvSpPr>
        <p:spPr>
          <a:xfrm>
            <a:off x="1314907" y="3743554"/>
            <a:ext cx="1000354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Tabu 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571500" y="4276649"/>
            <a:ext cx="6400800" cy="1104595"/>
          </a:xfrm>
          <a:prstGeom prst="roundRect">
            <a:avLst>
              <a:gd name="adj" fmla="val 7136"/>
            </a:avLst>
          </a:prstGeom>
          <a:solidFill>
            <a:srgbClr val="F0F9FF"/>
          </a:solidFill>
          <a:ln>
            <a:noFill/>
          </a:ln>
          <a:effectLst>
            <a:outerShdw blurRad="1143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571500" y="4276649"/>
            <a:ext cx="38405" cy="110459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5"/>
          <p:cNvSpPr txBox="1"/>
          <p:nvPr/>
        </p:nvSpPr>
        <p:spPr>
          <a:xfrm>
            <a:off x="800100" y="4419295"/>
            <a:ext cx="676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Kết luận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800100" y="4753051"/>
            <a:ext cx="608716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 là thuật toán cân bằng nhất giữa tốc độ và chất lượng giải pháp cho bài toán N-Queens.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7353605" y="1909267"/>
            <a:ext cx="4267505" cy="2857500"/>
          </a:xfrm>
          <a:prstGeom prst="roundRect">
            <a:avLst>
              <a:gd name="adj" fmla="val 1280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90500" dist="762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5"/>
          <p:cNvSpPr txBox="1"/>
          <p:nvPr/>
        </p:nvSpPr>
        <p:spPr>
          <a:xfrm>
            <a:off x="571500" y="5907024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11256264" y="5907024"/>
            <a:ext cx="4745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13/16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80627C-91DA-609C-9DCD-FD896B412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295752"/>
            <a:ext cx="4931861" cy="3925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6"/>
          <p:cNvSpPr txBox="1"/>
          <p:nvPr/>
        </p:nvSpPr>
        <p:spPr>
          <a:xfrm>
            <a:off x="571500" y="381305"/>
            <a:ext cx="2138782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Kết luận chung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 txBox="1"/>
          <p:nvPr/>
        </p:nvSpPr>
        <p:spPr>
          <a:xfrm>
            <a:off x="571500" y="1104595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CSP: Khung giải quyết ràng buộc phổ biến trong AI, biểu diễn dưới dạng mạng ràng buộc giữa các biến.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 txBox="1"/>
          <p:nvPr/>
        </p:nvSpPr>
        <p:spPr>
          <a:xfrm>
            <a:off x="571500" y="1695298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Backtracking: Tìm nghiệm chính xác cho CSP nhỏ/vừa như Graph Coloring, hiệu quả nhưng có hạn chế về quy mô.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 txBox="1"/>
          <p:nvPr/>
        </p:nvSpPr>
        <p:spPr>
          <a:xfrm>
            <a:off x="571500" y="2286000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Numba JIT: Tăng tốc xử lý tính xung đột lên đến 10 lần, biên dịch code Python sang mã máy như C/C++.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 txBox="1"/>
          <p:nvPr/>
        </p:nvSpPr>
        <p:spPr>
          <a:xfrm>
            <a:off x="571500" y="2876702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Local Search: Tìm nghiệm xấp xỉ nhanh cho không gian lớn như N-Queens, không đảm bảo tối ưu toàn cục.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 txBox="1"/>
          <p:nvPr/>
        </p:nvSpPr>
        <p:spPr>
          <a:xfrm>
            <a:off x="571500" y="3467405"/>
            <a:ext cx="651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Simulated Annealing: Hiệu quả nhất trong N-Queens theo thực nghiệm, cân bằng tốt giữa thời gian và chất lượng nghiệm.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571500" y="4067251"/>
            <a:ext cx="6400800" cy="68580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>
            <a:noFill/>
          </a:ln>
          <a:effectLst>
            <a:outerShdw blurRad="76200" dist="254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6"/>
          <p:cNvSpPr/>
          <p:nvPr/>
        </p:nvSpPr>
        <p:spPr>
          <a:xfrm>
            <a:off x="571500" y="4067251"/>
            <a:ext cx="3840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6"/>
          <p:cNvSpPr txBox="1"/>
          <p:nvPr/>
        </p:nvSpPr>
        <p:spPr>
          <a:xfrm>
            <a:off x="761695" y="4190695"/>
            <a:ext cx="607710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Kết luận: Kết hợp nhiều kỹ thuật (thuật toán + tối ưu hiệu năng) là cách tiếp cận hiệu quả nhất cho bài toán AI phức tạp.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7353605" y="1104595"/>
            <a:ext cx="4267505" cy="4619549"/>
          </a:xfrm>
          <a:prstGeom prst="roundRect">
            <a:avLst>
              <a:gd name="adj" fmla="val 574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90500" dist="762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8630107" y="1380744"/>
            <a:ext cx="1714500" cy="875995"/>
          </a:xfrm>
          <a:prstGeom prst="roundRect">
            <a:avLst>
              <a:gd name="adj" fmla="val 6808"/>
            </a:avLst>
          </a:prstGeom>
          <a:solidFill>
            <a:srgbClr val="1A5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6"/>
          <p:cNvSpPr txBox="1"/>
          <p:nvPr/>
        </p:nvSpPr>
        <p:spPr>
          <a:xfrm>
            <a:off x="9077249" y="1495044"/>
            <a:ext cx="933602" cy="63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Constraint Satisfaction Problems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7867498" y="2695651"/>
            <a:ext cx="1524305" cy="647395"/>
          </a:xfrm>
          <a:prstGeom prst="roundRect">
            <a:avLst>
              <a:gd name="adj" fmla="val 12463"/>
            </a:avLst>
          </a:prstGeom>
          <a:solidFill>
            <a:srgbClr val="93C5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9581998" y="2695651"/>
            <a:ext cx="1524305" cy="647395"/>
          </a:xfrm>
          <a:prstGeom prst="roundRect">
            <a:avLst>
              <a:gd name="adj" fmla="val 12463"/>
            </a:avLst>
          </a:prstGeom>
          <a:solidFill>
            <a:srgbClr val="93C5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6"/>
          <p:cNvSpPr txBox="1"/>
          <p:nvPr/>
        </p:nvSpPr>
        <p:spPr>
          <a:xfrm>
            <a:off x="8174736" y="2809951"/>
            <a:ext cx="1028700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Phương pháp chính xác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 txBox="1"/>
          <p:nvPr/>
        </p:nvSpPr>
        <p:spPr>
          <a:xfrm>
            <a:off x="9747504" y="2809951"/>
            <a:ext cx="1314907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Phương pháp xấp xỉ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7962595" y="3685946"/>
            <a:ext cx="1333195" cy="400507"/>
          </a:xfrm>
          <a:prstGeom prst="roundRect">
            <a:avLst>
              <a:gd name="adj" fmla="val 3261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7962595" y="4158691"/>
            <a:ext cx="1333195" cy="609905"/>
          </a:xfrm>
          <a:prstGeom prst="roundRect">
            <a:avLst>
              <a:gd name="adj" fmla="val 14055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7962595" y="4837176"/>
            <a:ext cx="1333195" cy="400507"/>
          </a:xfrm>
          <a:prstGeom prst="roundRect">
            <a:avLst>
              <a:gd name="adj" fmla="val 3261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9677095" y="3685946"/>
            <a:ext cx="1333195" cy="400507"/>
          </a:xfrm>
          <a:prstGeom prst="roundRect">
            <a:avLst>
              <a:gd name="adj" fmla="val 3261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9677095" y="4158691"/>
            <a:ext cx="1333195" cy="609905"/>
          </a:xfrm>
          <a:prstGeom prst="roundRect">
            <a:avLst>
              <a:gd name="adj" fmla="val 14055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9677095" y="4837176"/>
            <a:ext cx="1333195" cy="609905"/>
          </a:xfrm>
          <a:prstGeom prst="roundRect">
            <a:avLst>
              <a:gd name="adj" fmla="val 14055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6"/>
          <p:cNvSpPr txBox="1"/>
          <p:nvPr/>
        </p:nvSpPr>
        <p:spPr>
          <a:xfrm>
            <a:off x="8229600" y="3800246"/>
            <a:ext cx="912571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Backtracking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 txBox="1"/>
          <p:nvPr/>
        </p:nvSpPr>
        <p:spPr>
          <a:xfrm>
            <a:off x="8343900" y="4272991"/>
            <a:ext cx="674827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Forward Checking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 txBox="1"/>
          <p:nvPr/>
        </p:nvSpPr>
        <p:spPr>
          <a:xfrm>
            <a:off x="8130845" y="4951476"/>
            <a:ext cx="1103681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Arc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9953244" y="3800246"/>
            <a:ext cx="884225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Hill Climbing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/>
        </p:nvSpPr>
        <p:spPr>
          <a:xfrm>
            <a:off x="10033711" y="4272991"/>
            <a:ext cx="73152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Simulated Annealing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 txBox="1"/>
          <p:nvPr/>
        </p:nvSpPr>
        <p:spPr>
          <a:xfrm>
            <a:off x="10041026" y="4951476"/>
            <a:ext cx="713232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Genetic Algorithm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 txBox="1"/>
          <p:nvPr/>
        </p:nvSpPr>
        <p:spPr>
          <a:xfrm>
            <a:off x="571500" y="6057900"/>
            <a:ext cx="25319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11256264" y="6057900"/>
            <a:ext cx="47457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14/16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7"/>
          <p:cNvSpPr txBox="1"/>
          <p:nvPr/>
        </p:nvSpPr>
        <p:spPr>
          <a:xfrm>
            <a:off x="571500" y="286207"/>
            <a:ext cx="2291486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Bảng phân công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571500" y="1296619"/>
            <a:ext cx="11048695" cy="50474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571500" y="1296619"/>
            <a:ext cx="11048695" cy="504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571500" y="1782166"/>
            <a:ext cx="4286707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4854550" y="1782166"/>
            <a:ext cx="4105656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8953805" y="1782166"/>
            <a:ext cx="2667305" cy="1920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7"/>
          <p:cNvSpPr txBox="1"/>
          <p:nvPr/>
        </p:nvSpPr>
        <p:spPr>
          <a:xfrm>
            <a:off x="724205" y="1449324"/>
            <a:ext cx="852221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Thành viên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 txBox="1"/>
          <p:nvPr/>
        </p:nvSpPr>
        <p:spPr>
          <a:xfrm>
            <a:off x="5007254" y="1449324"/>
            <a:ext cx="74706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Nhiệm vụ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 txBox="1"/>
          <p:nvPr/>
        </p:nvSpPr>
        <p:spPr>
          <a:xfrm>
            <a:off x="9106510" y="1449324"/>
            <a:ext cx="804672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Trạng thái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571500" y="1799539"/>
            <a:ext cx="11048695" cy="523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571500" y="2256739"/>
            <a:ext cx="4286707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4" name="Google Shape;594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05" y="1895551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7"/>
          <p:cNvSpPr/>
          <p:nvPr/>
        </p:nvSpPr>
        <p:spPr>
          <a:xfrm>
            <a:off x="571500" y="2319833"/>
            <a:ext cx="11048695" cy="523951"/>
          </a:xfrm>
          <a:prstGeom prst="rect">
            <a:avLst/>
          </a:prstGeom>
          <a:solidFill>
            <a:srgbClr val="DBEA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7"/>
          <p:cNvSpPr/>
          <p:nvPr/>
        </p:nvSpPr>
        <p:spPr>
          <a:xfrm>
            <a:off x="8953805" y="2314346"/>
            <a:ext cx="266730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571500" y="2777033"/>
            <a:ext cx="4286707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8953805" y="2834640"/>
            <a:ext cx="266730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7"/>
          <p:cNvSpPr txBox="1"/>
          <p:nvPr/>
        </p:nvSpPr>
        <p:spPr>
          <a:xfrm>
            <a:off x="990295" y="1934870"/>
            <a:ext cx="113202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Phạm Văn Nam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 txBox="1"/>
          <p:nvPr/>
        </p:nvSpPr>
        <p:spPr>
          <a:xfrm>
            <a:off x="990295" y="2455164"/>
            <a:ext cx="18086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Nguyễn Quan Tuấn Nghĩa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4854550" y="2314346"/>
            <a:ext cx="41056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4854550" y="2834640"/>
            <a:ext cx="41056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7"/>
          <p:cNvSpPr txBox="1"/>
          <p:nvPr/>
        </p:nvSpPr>
        <p:spPr>
          <a:xfrm>
            <a:off x="5007254" y="1962302"/>
            <a:ext cx="197967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Thực hiện code, phân tích HC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9106510" y="1895551"/>
            <a:ext cx="1114654" cy="323698"/>
          </a:xfrm>
          <a:prstGeom prst="roundRect">
            <a:avLst>
              <a:gd name="adj" fmla="val 132934"/>
            </a:avLst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5" name="Google Shape;605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1607" y="1988820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7"/>
          <p:cNvSpPr txBox="1"/>
          <p:nvPr/>
        </p:nvSpPr>
        <p:spPr>
          <a:xfrm>
            <a:off x="5007254" y="2481682"/>
            <a:ext cx="190378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Cài đặt SA, trình bày kết quả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9335110" y="1962302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Hoàn thành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05" y="2414930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7"/>
          <p:cNvSpPr/>
          <p:nvPr/>
        </p:nvSpPr>
        <p:spPr>
          <a:xfrm>
            <a:off x="9106510" y="2414930"/>
            <a:ext cx="1114654" cy="323698"/>
          </a:xfrm>
          <a:prstGeom prst="roundRect">
            <a:avLst>
              <a:gd name="adj" fmla="val 132934"/>
            </a:avLst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0" name="Google Shape;61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1607" y="250819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/>
          <p:nvPr/>
        </p:nvSpPr>
        <p:spPr>
          <a:xfrm>
            <a:off x="571500" y="2840126"/>
            <a:ext cx="11048695" cy="523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571500" y="3297326"/>
            <a:ext cx="4286707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8953805" y="3354934"/>
            <a:ext cx="2667305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7"/>
          <p:cNvSpPr txBox="1"/>
          <p:nvPr/>
        </p:nvSpPr>
        <p:spPr>
          <a:xfrm>
            <a:off x="990295" y="2975458"/>
            <a:ext cx="92263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 Hồng Quí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990295" y="3495751"/>
            <a:ext cx="113202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Vũ Quốc Vương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4854550" y="3354934"/>
            <a:ext cx="410565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7"/>
          <p:cNvSpPr txBox="1"/>
          <p:nvPr/>
        </p:nvSpPr>
        <p:spPr>
          <a:xfrm>
            <a:off x="9335110" y="2481682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Hoàn thành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8" name="Google Shape;61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05" y="2935224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7"/>
          <p:cNvSpPr txBox="1"/>
          <p:nvPr/>
        </p:nvSpPr>
        <p:spPr>
          <a:xfrm>
            <a:off x="5007254" y="3001975"/>
            <a:ext cx="187543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Viết Word, tối ưu Numba JIT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9106510" y="2935224"/>
            <a:ext cx="1114654" cy="323698"/>
          </a:xfrm>
          <a:prstGeom prst="roundRect">
            <a:avLst>
              <a:gd name="adj" fmla="val 132934"/>
            </a:avLst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1" name="Google Shape;621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1607" y="3028493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7"/>
          <p:cNvSpPr/>
          <p:nvPr/>
        </p:nvSpPr>
        <p:spPr>
          <a:xfrm>
            <a:off x="571500" y="3360420"/>
            <a:ext cx="11048695" cy="514807"/>
          </a:xfrm>
          <a:prstGeom prst="rect">
            <a:avLst/>
          </a:prstGeom>
          <a:solidFill>
            <a:srgbClr val="DBEA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9106510" y="3455518"/>
            <a:ext cx="1114654" cy="323698"/>
          </a:xfrm>
          <a:prstGeom prst="roundRect">
            <a:avLst>
              <a:gd name="adj" fmla="val 132934"/>
            </a:avLst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7"/>
          <p:cNvSpPr txBox="1"/>
          <p:nvPr/>
        </p:nvSpPr>
        <p:spPr>
          <a:xfrm>
            <a:off x="9335110" y="3001975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Hoàn thành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05" y="345551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7"/>
          <p:cNvSpPr txBox="1"/>
          <p:nvPr/>
        </p:nvSpPr>
        <p:spPr>
          <a:xfrm>
            <a:off x="5007254" y="3522269"/>
            <a:ext cx="94183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Thiết kế slide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1607" y="354878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7"/>
          <p:cNvSpPr txBox="1"/>
          <p:nvPr/>
        </p:nvSpPr>
        <p:spPr>
          <a:xfrm>
            <a:off x="9335110" y="3522269"/>
            <a:ext cx="89428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Open Sans"/>
                <a:ea typeface="Open Sans"/>
                <a:cs typeface="Open Sans"/>
                <a:sym typeface="Open Sans"/>
              </a:rPr>
              <a:t>Hoàn thành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571500" y="4042562"/>
            <a:ext cx="11048695" cy="1742846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571500" y="4042562"/>
            <a:ext cx="47549" cy="174284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7"/>
          <p:cNvSpPr txBox="1"/>
          <p:nvPr/>
        </p:nvSpPr>
        <p:spPr>
          <a:xfrm>
            <a:off x="809244" y="4204411"/>
            <a:ext cx="6766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Ghi chú: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17" descr="preencoded.png"/>
          <p:cNvPicPr preferRelativeResize="0"/>
          <p:nvPr/>
        </p:nvPicPr>
        <p:blipFill rotWithShape="1">
          <a:blip r:embed="rId5">
            <a:alphaModFix/>
          </a:blip>
          <a:srcRect t="-4805" b="-4805"/>
          <a:stretch/>
        </p:blipFill>
        <p:spPr>
          <a:xfrm>
            <a:off x="809244" y="4623206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7"/>
          <p:cNvSpPr txBox="1"/>
          <p:nvPr/>
        </p:nvSpPr>
        <p:spPr>
          <a:xfrm>
            <a:off x="1114654" y="4652467"/>
            <a:ext cx="495330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Mỗi thành viên đảm nhiệm vai trò chuyên môn phù hợp trong dự án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p17" descr="preencoded.png"/>
          <p:cNvPicPr preferRelativeResize="0"/>
          <p:nvPr/>
        </p:nvPicPr>
        <p:blipFill rotWithShape="1">
          <a:blip r:embed="rId6">
            <a:alphaModFix/>
          </a:blip>
          <a:srcRect l="-3033" r="-3032"/>
          <a:stretch/>
        </p:blipFill>
        <p:spPr>
          <a:xfrm>
            <a:off x="809244" y="4966106"/>
            <a:ext cx="247802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17"/>
          <p:cNvSpPr txBox="1"/>
          <p:nvPr/>
        </p:nvSpPr>
        <p:spPr>
          <a:xfrm>
            <a:off x="1057046" y="4995367"/>
            <a:ext cx="4515307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Tất cả nhiệm vụ hoàn thành đúng tiến độ trước ngày trình bày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17" descr="preencoded.png"/>
          <p:cNvPicPr preferRelativeResize="0"/>
          <p:nvPr/>
        </p:nvPicPr>
        <p:blipFill rotWithShape="1">
          <a:blip r:embed="rId7">
            <a:alphaModFix/>
          </a:blip>
          <a:srcRect t="-2476" b="-2476"/>
          <a:stretch/>
        </p:blipFill>
        <p:spPr>
          <a:xfrm>
            <a:off x="809244" y="5309006"/>
            <a:ext cx="286207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7"/>
          <p:cNvSpPr txBox="1"/>
          <p:nvPr/>
        </p:nvSpPr>
        <p:spPr>
          <a:xfrm>
            <a:off x="1095451" y="5338267"/>
            <a:ext cx="46863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Nhóm hoàn thành tốt việc phối hợp phát triển giải pháp cho CSP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 txBox="1"/>
          <p:nvPr/>
        </p:nvSpPr>
        <p:spPr>
          <a:xfrm>
            <a:off x="9327794" y="6282842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8"/>
          <p:cNvSpPr txBox="1"/>
          <p:nvPr/>
        </p:nvSpPr>
        <p:spPr>
          <a:xfrm>
            <a:off x="5162702" y="323698"/>
            <a:ext cx="2067458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100"/>
              <a:buFont typeface="Roboto"/>
              <a:buNone/>
            </a:pPr>
            <a:r>
              <a:rPr lang="en-US" sz="21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Cảm ơn và Q&amp;A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3547872" y="1000354"/>
            <a:ext cx="5334610" cy="36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400"/>
              <a:buFont typeface="Roboto"/>
              <a:buNone/>
            </a:pPr>
            <a:r>
              <a:rPr lang="en-US" sz="2400" b="1" i="0" u="none" strike="noStrike" cap="none">
                <a:solidFill>
                  <a:srgbClr val="1A56DB"/>
                </a:solidFill>
                <a:latin typeface="Roboto"/>
                <a:ea typeface="Roboto"/>
                <a:cs typeface="Roboto"/>
                <a:sym typeface="Roboto"/>
              </a:rPr>
              <a:t>Cảm ơn thầy và các bạn đã lắng nghe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3948379" y="1886407"/>
            <a:ext cx="4295851" cy="1095451"/>
          </a:xfrm>
          <a:prstGeom prst="roundRect">
            <a:avLst>
              <a:gd name="adj" fmla="val 7258"/>
            </a:avLst>
          </a:prstGeom>
          <a:solidFill>
            <a:srgbClr val="F0F7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8" name="Google Shape;648;p18" descr="preencoded.png"/>
          <p:cNvPicPr preferRelativeResize="0"/>
          <p:nvPr/>
        </p:nvPicPr>
        <p:blipFill rotWithShape="1">
          <a:blip r:embed="rId3">
            <a:alphaModFix/>
          </a:blip>
          <a:srcRect t="-841" b="-840"/>
          <a:stretch/>
        </p:blipFill>
        <p:spPr>
          <a:xfrm>
            <a:off x="5722315" y="2128723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8"/>
          <p:cNvSpPr txBox="1"/>
          <p:nvPr/>
        </p:nvSpPr>
        <p:spPr>
          <a:xfrm>
            <a:off x="5913425" y="2115007"/>
            <a:ext cx="691286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Liên hệ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18" descr="preencoded.png"/>
          <p:cNvPicPr preferRelativeResize="0"/>
          <p:nvPr/>
        </p:nvPicPr>
        <p:blipFill rotWithShape="1">
          <a:blip r:embed="rId4">
            <a:alphaModFix/>
          </a:blip>
          <a:srcRect t="-12500" b="-12499"/>
          <a:stretch/>
        </p:blipFill>
        <p:spPr>
          <a:xfrm>
            <a:off x="4386377" y="251734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/>
        </p:nvSpPr>
        <p:spPr>
          <a:xfrm>
            <a:off x="4539082" y="2495398"/>
            <a:ext cx="72694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Nhóm 11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8851" y="251734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8"/>
          <p:cNvSpPr txBox="1"/>
          <p:nvPr/>
        </p:nvSpPr>
        <p:spPr>
          <a:xfrm>
            <a:off x="5590642" y="2495398"/>
            <a:ext cx="84124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Khoa CNTT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18" descr="preencoded.png"/>
          <p:cNvPicPr preferRelativeResize="0"/>
          <p:nvPr/>
        </p:nvPicPr>
        <p:blipFill rotWithShape="1">
          <a:blip r:embed="rId6">
            <a:alphaModFix/>
          </a:blip>
          <a:srcRect t="-12500" b="-12499"/>
          <a:stretch/>
        </p:blipFill>
        <p:spPr>
          <a:xfrm>
            <a:off x="6609283" y="251734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8"/>
          <p:cNvSpPr txBox="1"/>
          <p:nvPr/>
        </p:nvSpPr>
        <p:spPr>
          <a:xfrm>
            <a:off x="6761988" y="2495398"/>
            <a:ext cx="115580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Đại học Sài Gòn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381305" y="3233318"/>
            <a:ext cx="23929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Trí tuệ Nhân tạo Nâng Cao | Nhóm 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8"/>
          <p:cNvSpPr txBox="1"/>
          <p:nvPr/>
        </p:nvSpPr>
        <p:spPr>
          <a:xfrm>
            <a:off x="11467490" y="3233318"/>
            <a:ext cx="44988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16/16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Microsoft Office PowerPoint</Application>
  <PresentationFormat>Widescreen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Roboto</vt:lpstr>
      <vt:lpstr>Open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Vũ Quốc Vương</cp:lastModifiedBy>
  <cp:revision>1</cp:revision>
  <dcterms:modified xsi:type="dcterms:W3CDTF">2025-10-26T16:26:07Z</dcterms:modified>
</cp:coreProperties>
</file>